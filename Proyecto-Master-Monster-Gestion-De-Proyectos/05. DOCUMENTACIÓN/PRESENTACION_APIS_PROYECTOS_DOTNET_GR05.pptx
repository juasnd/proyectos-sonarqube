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89" r:id="rId5"/>
    <p:sldId id="293" r:id="rId6"/>
    <p:sldId id="290" r:id="rId7"/>
    <p:sldId id="294" r:id="rId8"/>
    <p:sldId id="291" r:id="rId9"/>
    <p:sldId id="292" r:id="rId10"/>
    <p:sldId id="295" r:id="rId11"/>
    <p:sldId id="296" r:id="rId12"/>
    <p:sldId id="286" r:id="rId13"/>
    <p:sldId id="287" r:id="rId14"/>
    <p:sldId id="288" r:id="rId15"/>
  </p:sldIdLst>
  <p:sldSz cx="12192000" cy="6858000"/>
  <p:notesSz cx="6858000" cy="9144000"/>
  <p:embeddedFontLst>
    <p:embeddedFont>
      <p:font typeface="Cambria" panose="02040503050406030204" pitchFamily="18" charset="0"/>
      <p:regular r:id="rId17"/>
      <p:bold r:id="rId18"/>
      <p:italic r:id="rId19"/>
      <p:boldItalic r:id="rId20"/>
    </p:embeddedFont>
    <p:embeddedFont>
      <p:font typeface="Gill Sans" panose="020B0604020202020204" charset="0"/>
      <p:regular r:id="rId21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ggt/u4YF8GrG0lrjmG2WgNmUZr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80" autoAdjust="0"/>
    <p:restoredTop sz="94677"/>
  </p:normalViewPr>
  <p:slideViewPr>
    <p:cSldViewPr snapToGrid="0">
      <p:cViewPr varScale="1">
        <p:scale>
          <a:sx n="78" d="100"/>
          <a:sy n="78" d="100"/>
        </p:scale>
        <p:origin x="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BC81639A-7701-3E98-5A20-02B2DFAD2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333FFB5D-483F-9ED9-04A4-6C2F33110C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702D60FB-1862-830D-909F-9E7F544DB4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2209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F097A9AD-7002-83B5-132F-602954610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4ABAC633-F5D6-28C3-21F1-9B2F826F3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8712C5B4-8B14-71A4-2C1B-A48F2DF083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08126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E182227E-F4D3-DF0B-D475-3C74AD8EE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9FAADA1D-1C00-CE9C-37D3-8F23E058D6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9E4BB170-822C-64D6-71FA-0E8D2230AE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9723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C061E516-B5FE-280E-106B-C968F8AAA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49813393-347D-AF9D-A3CB-4105F0E24A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AA7F05A4-2A2D-D892-24AE-30A23111C4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3684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43798C1C-8FC6-C821-D0D8-DD73580B1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3E238BB0-F908-C02C-2200-8B8411D7C3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84F5AF2D-E620-9573-9206-BB775CDFDE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76805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DE9E634C-DB77-A9B8-8458-8D2D331CE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FA6A21C6-A277-F404-4314-2CAB5417E3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52E6A54A-530A-935F-3585-A556144D8F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73492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D8F2438F-7396-DAE1-AC22-5AF9C7A16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4ABFC066-C525-04B1-B8BB-9A9F95053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0B1C980A-DE24-ACC7-8AF3-F27AA9AB17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481717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7799E6C-7DE6-FD24-71A5-15EA65F9C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E5C503AF-49C5-5E5D-6699-5208DD1928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30AD46C0-0FA0-7E30-87D5-06A32BB7F4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9258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161f0705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1" name="Google Shape;351;g1161f0705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161f07059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8" name="Google Shape;358;g1161f07059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161f07059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5" name="Google Shape;365;g1161f07059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8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8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8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9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4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0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0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0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1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1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1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1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2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2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2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52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52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52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5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53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3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5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5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5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55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5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6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6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6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5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7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7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5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8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8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8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58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8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8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7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7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4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4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4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47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7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7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599250" y="3127917"/>
            <a:ext cx="109935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/>
            <a:r>
              <a:rPr sz="2800">
                <a:solidFill>
                  <a:srgbClr val="FFFFFF"/>
                </a:solidFill>
              </a:rPr>
              <a:t>Integración de APIs REST en ASP.NET Core MVC.</a:t>
            </a:r>
          </a:p>
          <a:p>
            <a:pPr algn="ctr"/>
            <a:r>
              <a:rPr sz="2800">
                <a:solidFill>
                  <a:srgbClr val="FFFFFF"/>
                </a:solidFill>
              </a:rPr>
              <a:t>Caso práctico: Gestión de Proyectos “Master Monster”</a:t>
            </a:r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499873" y="5183173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1"/>
              <a:buNone/>
            </a:pPr>
            <a:r>
              <a:rPr sz="1800">
                <a:solidFill>
                  <a:srgbClr val="FFFFFF"/>
                </a:solidFill>
              </a:rPr>
              <a:t>INTEGRANTES:	</a:t>
            </a:r>
            <a:endParaRPr sz="4400" dirty="0">
              <a:solidFill>
                <a:schemeClr val="lt1"/>
              </a:solidFill>
            </a:endParaRPr>
          </a:p>
          <a:p>
            <a:pPr algn="l"/>
            <a:r>
              <a:rPr sz="1800">
                <a:solidFill>
                  <a:srgbClr val="FFFFFF"/>
                </a:solidFill>
              </a:rPr>
              <a:t>JUAN GUTIÉRREZ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STALYN LANDAZURI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JOSÉ LEITON</a:t>
            </a:r>
          </a:p>
        </p:txBody>
      </p:sp>
      <p:pic>
        <p:nvPicPr>
          <p:cNvPr id="98" name="Google Shape;98;p1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8390293" y="5238690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sz="1800" b="1">
                <a:solidFill>
                  <a:srgbClr val="FFFFFF"/>
                </a:solidFill>
              </a:rPr>
              <a:t>NRC: 30717</a:t>
            </a:r>
            <a:endParaRPr sz="4400" b="0" i="0" u="none" strike="noStrike" cap="none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algn="l"/>
            <a:r>
              <a:rPr sz="1800" b="1">
                <a:solidFill>
                  <a:srgbClr val="FFFFFF"/>
                </a:solidFill>
              </a:rPr>
              <a:t>FECHA:  16/07/2026</a:t>
            </a:r>
          </a:p>
          <a:p>
            <a:pPr algn="l"/>
            <a:r>
              <a:rPr sz="1800" b="1">
                <a:solidFill>
                  <a:srgbClr val="FFFFFF"/>
                </a:solidFill>
              </a:rPr>
              <a:t>ING: CAMPAÑA MAURICIO</a:t>
            </a:r>
          </a:p>
        </p:txBody>
      </p:sp>
      <p:sp>
        <p:nvSpPr>
          <p:cNvPr id="100" name="Google Shape;100;p1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>
            <a:spLocks noGrp="1"/>
          </p:cNvSpPr>
          <p:nvPr>
            <p:ph type="body" idx="1"/>
          </p:nvPr>
        </p:nvSpPr>
        <p:spPr>
          <a:xfrm>
            <a:off x="278597" y="701336"/>
            <a:ext cx="3707477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◼"/>
            </a:pPr>
            <a:r>
              <a:rPr sz="2500" b="1">
                <a:solidFill>
                  <a:srgbClr val="FFFFFF"/>
                </a:solidFill>
                <a:latin typeface="Calibri"/>
              </a:rPr>
              <a:t>INTRODUCCIÓN</a:t>
            </a:r>
            <a:endParaRPr sz="25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ARQUITECTURA MVC</a:t>
            </a:r>
          </a:p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INTEGRACIÓN API</a:t>
            </a:r>
          </a:p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DTOs Y SERVICIOS</a:t>
            </a:r>
          </a:p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FLUJO DE APIS</a:t>
            </a:r>
          </a:p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CONCLUSIONES</a:t>
            </a:r>
          </a:p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RECOMENDACIONES</a:t>
            </a:r>
          </a:p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BIBLIOGRAFÍA</a:t>
            </a:r>
          </a:p>
        </p:txBody>
      </p:sp>
      <p:pic>
        <p:nvPicPr>
          <p:cNvPr id="108" name="Google Shape;108;p2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4" descr="Imagen que contiene electrónica, circuito&#10;&#10;Descripción generada automáticamente"/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1800">
                <a:solidFill>
                  <a:srgbClr val="FFFFFF"/>
                </a:solidFill>
              </a:rPr>
              <a:t>INTRODUCCIÓN</a:t>
            </a:r>
            <a:endParaRPr/>
          </a:p>
        </p:txBody>
      </p:sp>
      <p:grpSp>
        <p:nvGrpSpPr>
          <p:cNvPr id="118" name="Google Shape;118;p4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4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4"/>
          <p:cNvSpPr txBox="1">
            <a:spLocks noGrp="1"/>
          </p:cNvSpPr>
          <p:nvPr>
            <p:ph type="body" idx="1"/>
          </p:nvPr>
        </p:nvSpPr>
        <p:spPr>
          <a:xfrm>
            <a:off x="581192" y="2268955"/>
            <a:ext cx="8305500" cy="30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0" lvl="0" indent="0" algn="l">
              <a:lnSpc>
                <a:spcPct val="150000"/>
              </a:lnSpc>
              <a:buNone/>
            </a:pPr>
            <a:r>
              <a:rPr sz="2400" dirty="0" err="1">
                <a:solidFill>
                  <a:srgbClr val="404040"/>
                </a:solidFill>
                <a:latin typeface="Arial"/>
              </a:rPr>
              <a:t>Presentar</a:t>
            </a:r>
            <a:r>
              <a:rPr sz="2400" dirty="0">
                <a:solidFill>
                  <a:srgbClr val="404040"/>
                </a:solidFill>
                <a:latin typeface="Arial"/>
              </a:rPr>
              <a:t> la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integración</a:t>
            </a:r>
            <a:r>
              <a:rPr sz="2400" dirty="0">
                <a:solidFill>
                  <a:srgbClr val="404040"/>
                </a:solidFill>
                <a:latin typeface="Arial"/>
              </a:rPr>
              <a:t> de APIs REST del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módulo</a:t>
            </a:r>
            <a:r>
              <a:rPr sz="2400" dirty="0">
                <a:solidFill>
                  <a:srgbClr val="404040"/>
                </a:solidFill>
                <a:latin typeface="Arial"/>
              </a:rPr>
              <a:t> de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proyectos</a:t>
            </a:r>
            <a:r>
              <a:rPr sz="2400" dirty="0">
                <a:solidFill>
                  <a:srgbClr val="404040"/>
                </a:solidFill>
                <a:latin typeface="Arial"/>
              </a:rPr>
              <a:t> de Master Monster,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desarrollado</a:t>
            </a:r>
            <a:r>
              <a:rPr sz="2400" dirty="0">
                <a:solidFill>
                  <a:srgbClr val="404040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en</a:t>
            </a:r>
            <a:r>
              <a:rPr sz="2400" dirty="0">
                <a:solidFill>
                  <a:srgbClr val="404040"/>
                </a:solidFill>
                <a:latin typeface="Arial"/>
              </a:rPr>
              <a:t> ASP.NET Core MVC. La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interfaz</a:t>
            </a:r>
            <a:r>
              <a:rPr sz="2400" dirty="0">
                <a:solidFill>
                  <a:srgbClr val="404040"/>
                </a:solidFill>
                <a:latin typeface="Arial"/>
              </a:rPr>
              <a:t> Razor se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comunica</a:t>
            </a:r>
            <a:r>
              <a:rPr sz="2400" dirty="0">
                <a:solidFill>
                  <a:srgbClr val="404040"/>
                </a:solidFill>
                <a:latin typeface="Arial"/>
              </a:rPr>
              <a:t> con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controladores</a:t>
            </a:r>
            <a:r>
              <a:rPr sz="2400" dirty="0">
                <a:solidFill>
                  <a:srgbClr val="404040"/>
                </a:solidFill>
                <a:latin typeface="Arial"/>
              </a:rPr>
              <a:t> API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versionados</a:t>
            </a:r>
            <a:r>
              <a:rPr sz="2400" dirty="0">
                <a:solidFill>
                  <a:srgbClr val="404040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mediante</a:t>
            </a:r>
            <a:r>
              <a:rPr sz="2400" dirty="0">
                <a:solidFill>
                  <a:srgbClr val="404040"/>
                </a:solidFill>
                <a:latin typeface="Arial"/>
              </a:rPr>
              <a:t> JavaScript y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respuestas</a:t>
            </a:r>
            <a:r>
              <a:rPr sz="2400" dirty="0">
                <a:solidFill>
                  <a:srgbClr val="404040"/>
                </a:solidFill>
                <a:latin typeface="Arial"/>
              </a:rPr>
              <a:t> JSON,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permitiendo</a:t>
            </a:r>
            <a:r>
              <a:rPr sz="2400" dirty="0">
                <a:solidFill>
                  <a:srgbClr val="404040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crear</a:t>
            </a:r>
            <a:r>
              <a:rPr sz="2400" dirty="0">
                <a:solidFill>
                  <a:srgbClr val="404040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proyectos</a:t>
            </a:r>
            <a:r>
              <a:rPr sz="2400" dirty="0">
                <a:solidFill>
                  <a:srgbClr val="404040"/>
                </a:solidFill>
                <a:latin typeface="Arial"/>
              </a:rPr>
              <a:t>,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administrar</a:t>
            </a:r>
            <a:r>
              <a:rPr sz="2400" dirty="0">
                <a:solidFill>
                  <a:srgbClr val="404040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equipo</a:t>
            </a:r>
            <a:r>
              <a:rPr sz="2400" dirty="0">
                <a:solidFill>
                  <a:srgbClr val="404040"/>
                </a:solidFill>
                <a:latin typeface="Arial"/>
              </a:rPr>
              <a:t>,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planificar</a:t>
            </a:r>
            <a:r>
              <a:rPr sz="2400" dirty="0">
                <a:solidFill>
                  <a:srgbClr val="404040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fases</a:t>
            </a:r>
            <a:r>
              <a:rPr sz="2400" dirty="0">
                <a:solidFill>
                  <a:srgbClr val="404040"/>
                </a:solidFill>
                <a:latin typeface="Arial"/>
              </a:rPr>
              <a:t>,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tareas</a:t>
            </a:r>
            <a:r>
              <a:rPr sz="2400" dirty="0">
                <a:solidFill>
                  <a:srgbClr val="404040"/>
                </a:solidFill>
                <a:latin typeface="Arial"/>
              </a:rPr>
              <a:t> y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entregables</a:t>
            </a:r>
            <a:r>
              <a:rPr sz="2400" dirty="0">
                <a:solidFill>
                  <a:srgbClr val="404040"/>
                </a:solidFill>
                <a:latin typeface="Arial"/>
              </a:rPr>
              <a:t>, y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controlar</a:t>
            </a:r>
            <a:r>
              <a:rPr sz="2400" dirty="0">
                <a:solidFill>
                  <a:srgbClr val="404040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el</a:t>
            </a:r>
            <a:r>
              <a:rPr sz="2400" dirty="0">
                <a:solidFill>
                  <a:srgbClr val="404040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ciclo</a:t>
            </a:r>
            <a:r>
              <a:rPr sz="2400" dirty="0">
                <a:solidFill>
                  <a:srgbClr val="404040"/>
                </a:solidFill>
                <a:latin typeface="Arial"/>
              </a:rPr>
              <a:t> de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vida</a:t>
            </a:r>
            <a:r>
              <a:rPr sz="2400" dirty="0">
                <a:solidFill>
                  <a:srgbClr val="404040"/>
                </a:solidFill>
                <a:latin typeface="Arial"/>
              </a:rPr>
              <a:t> del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proyecto</a:t>
            </a:r>
            <a:r>
              <a:rPr sz="2400" dirty="0">
                <a:solidFill>
                  <a:srgbClr val="404040"/>
                </a:solidFill>
                <a:latin typeface="Arial"/>
              </a:rPr>
              <a:t> sin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recargar</a:t>
            </a:r>
            <a:r>
              <a:rPr sz="2400" dirty="0">
                <a:solidFill>
                  <a:srgbClr val="404040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toda</a:t>
            </a:r>
            <a:r>
              <a:rPr sz="2400" dirty="0">
                <a:solidFill>
                  <a:srgbClr val="404040"/>
                </a:solidFill>
                <a:latin typeface="Arial"/>
              </a:rPr>
              <a:t> la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pantalla</a:t>
            </a:r>
            <a:r>
              <a:rPr sz="2400" dirty="0">
                <a:solidFill>
                  <a:srgbClr val="404040"/>
                </a:solidFill>
                <a:latin typeface="Arial"/>
              </a:rPr>
              <a:t>.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Times New Roman"/>
              <a:sym typeface="Times New Roman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9079825" y="0"/>
            <a:ext cx="31122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00"/>
                </a:solidFill>
                <a:latin typeface="Arial"/>
                <a:ea typeface="Calibri"/>
                <a:cs typeface="Calibri"/>
                <a:sym typeface="Calibri"/>
              </a:rPr>
              <a:t>INTRODUCCIÓN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ARQUITECTURA MVC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INTEGRACIÓN API</a:t>
            </a: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DTOs Y SERVICIOS</a:t>
            </a:r>
            <a:endParaRPr lang="es-ES" sz="4000" dirty="0">
              <a:solidFill>
                <a:schemeClr val="lt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FLUJO DE APIS</a:t>
            </a:r>
            <a:endParaRPr lang="es-ES" sz="4000" dirty="0"/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CONCLUSIONES</a:t>
            </a:r>
            <a:endParaRPr lang="es-ES" sz="4000" dirty="0"/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RECOMENDACIONES</a:t>
            </a:r>
            <a:endParaRPr lang="es-ES" sz="4000" dirty="0">
              <a:solidFill>
                <a:schemeClr val="dk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BIBLIOGRAFÍA </a:t>
            </a:r>
            <a:endParaRPr lang="es-E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F8DD9D54-DA57-3B7F-AC46-E9B3DE393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>
            <a:extLst>
              <a:ext uri="{FF2B5EF4-FFF2-40B4-BE49-F238E27FC236}">
                <a16:creationId xmlns:a16="http://schemas.microsoft.com/office/drawing/2014/main" id="{134DD242-700C-5A0D-0F60-69B5E84110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4" descr="Imagen que contiene electrónica, circuito&#10;&#10;Descripción generada automáticamente">
            <a:extLst>
              <a:ext uri="{FF2B5EF4-FFF2-40B4-BE49-F238E27FC236}">
                <a16:creationId xmlns:a16="http://schemas.microsoft.com/office/drawing/2014/main" id="{431D393D-05ED-5AB8-9D2C-7E003BEA7402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>
            <a:extLst>
              <a:ext uri="{FF2B5EF4-FFF2-40B4-BE49-F238E27FC236}">
                <a16:creationId xmlns:a16="http://schemas.microsoft.com/office/drawing/2014/main" id="{7CA6DAE1-62AE-C048-545A-70BE20EA5E8C}"/>
              </a:ext>
            </a:extLst>
          </p:cNvPr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F51F3015-6557-8839-3730-ADAC521DAC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1800">
                <a:solidFill>
                  <a:srgbClr val="FFFFFF"/>
                </a:solidFill>
              </a:rPr>
              <a:t>ARQUITECTURA MVC</a:t>
            </a:r>
            <a:endParaRPr dirty="0"/>
          </a:p>
        </p:txBody>
      </p:sp>
      <p:grpSp>
        <p:nvGrpSpPr>
          <p:cNvPr id="118" name="Google Shape;118;p4">
            <a:extLst>
              <a:ext uri="{FF2B5EF4-FFF2-40B4-BE49-F238E27FC236}">
                <a16:creationId xmlns:a16="http://schemas.microsoft.com/office/drawing/2014/main" id="{F378C4BE-9393-4D06-D853-006C9BAA33DA}"/>
              </a:ext>
            </a:extLst>
          </p:cNvPr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4">
              <a:extLst>
                <a:ext uri="{FF2B5EF4-FFF2-40B4-BE49-F238E27FC236}">
                  <a16:creationId xmlns:a16="http://schemas.microsoft.com/office/drawing/2014/main" id="{B2239C9C-9181-98DE-7C0E-BE06B1B6DCDE}"/>
                </a:ext>
              </a:extLst>
            </p:cNvPr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">
              <a:extLst>
                <a:ext uri="{FF2B5EF4-FFF2-40B4-BE49-F238E27FC236}">
                  <a16:creationId xmlns:a16="http://schemas.microsoft.com/office/drawing/2014/main" id="{97C3989A-78C5-BB8F-D848-2376ABDE6FFC}"/>
                </a:ext>
              </a:extLst>
            </p:cNvPr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">
              <a:extLst>
                <a:ext uri="{FF2B5EF4-FFF2-40B4-BE49-F238E27FC236}">
                  <a16:creationId xmlns:a16="http://schemas.microsoft.com/office/drawing/2014/main" id="{2CFA2F14-B4D9-2A43-5727-69AE4C2D9ED9}"/>
                </a:ext>
              </a:extLst>
            </p:cNvPr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2643D989-24F8-7474-C953-F5A0A23F61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7" y="2068977"/>
            <a:ext cx="8305500" cy="30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0" lvl="0" indent="0" algn="l">
              <a:lnSpc>
                <a:spcPct val="150000"/>
              </a:lnSpc>
              <a:buNone/>
            </a:pPr>
            <a:r>
              <a:rPr sz="2800">
                <a:solidFill>
                  <a:srgbClr val="404040"/>
                </a:solidFill>
                <a:latin typeface="Arial"/>
              </a:rPr>
              <a:t>La arquitectura conserva el patrón MVC: las vistas Razor muestran la interfaz, los archivos JavaScript ejecutan llamadas fetch, los controladores Api/V1 reciben solicitudes HTTP y los servicios aplican reglas de negocio. Los repositorios encapsulan el acceso a datos y el middleware centraliza los errores para devolver respuestas controladas.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imes New Roman"/>
              <a:sym typeface="Times New Roman"/>
            </a:endParaRPr>
          </a:p>
        </p:txBody>
      </p:sp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42162EF3-EFF6-AC03-62BC-34FA582B56CD}"/>
              </a:ext>
            </a:extLst>
          </p:cNvPr>
          <p:cNvSpPr/>
          <p:nvPr/>
        </p:nvSpPr>
        <p:spPr>
          <a:xfrm>
            <a:off x="9079825" y="0"/>
            <a:ext cx="31122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INTRODUCCIÓN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00"/>
                </a:solidFill>
                <a:latin typeface="Arial"/>
                <a:ea typeface="Calibri"/>
                <a:cs typeface="Calibri"/>
                <a:sym typeface="Calibri"/>
              </a:rPr>
              <a:t>ARQUITECTURA MVC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INTEGRACIÓN API</a:t>
            </a: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DTOs Y SERVICIOS</a:t>
            </a:r>
            <a:endParaRPr lang="es-ES" sz="4000" dirty="0">
              <a:solidFill>
                <a:schemeClr val="lt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FLUJO DE APIS</a:t>
            </a:r>
            <a:endParaRPr lang="es-ES" sz="4000" dirty="0"/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CONCLUSIONES</a:t>
            </a:r>
            <a:endParaRPr lang="es-ES" sz="4000" dirty="0"/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RECOMENDACIONES</a:t>
            </a:r>
            <a:endParaRPr lang="es-ES" sz="4000" dirty="0">
              <a:solidFill>
                <a:schemeClr val="dk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BIBLIOGRAFÍA </a:t>
            </a:r>
            <a:endParaRPr lang="es-ES" sz="4000" dirty="0"/>
          </a:p>
        </p:txBody>
      </p:sp>
    </p:spTree>
    <p:extLst>
      <p:ext uri="{BB962C8B-B14F-4D97-AF65-F5344CB8AC3E}">
        <p14:creationId xmlns:p14="http://schemas.microsoft.com/office/powerpoint/2010/main" val="53491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5FC9131C-9032-4BC9-E097-662304BA0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>
            <a:extLst>
              <a:ext uri="{FF2B5EF4-FFF2-40B4-BE49-F238E27FC236}">
                <a16:creationId xmlns:a16="http://schemas.microsoft.com/office/drawing/2014/main" id="{2B56FE29-598B-3144-B3C3-1959810E1B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4" descr="Imagen que contiene electrónica, circuito&#10;&#10;Descripción generada automáticamente">
            <a:extLst>
              <a:ext uri="{FF2B5EF4-FFF2-40B4-BE49-F238E27FC236}">
                <a16:creationId xmlns:a16="http://schemas.microsoft.com/office/drawing/2014/main" id="{B21C9CF9-3574-EAC5-04E3-5DAEBDF6B85A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>
            <a:extLst>
              <a:ext uri="{FF2B5EF4-FFF2-40B4-BE49-F238E27FC236}">
                <a16:creationId xmlns:a16="http://schemas.microsoft.com/office/drawing/2014/main" id="{ECDF60D7-A154-98B8-ACC1-72810A3CF65C}"/>
              </a:ext>
            </a:extLst>
          </p:cNvPr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F3978EAD-D102-7823-0EB0-EAE396CAAD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1800">
                <a:solidFill>
                  <a:srgbClr val="FFFFFF"/>
                </a:solidFill>
              </a:rPr>
              <a:t>ARQUITECTURA MVC</a:t>
            </a:r>
            <a:endParaRPr dirty="0"/>
          </a:p>
        </p:txBody>
      </p:sp>
      <p:grpSp>
        <p:nvGrpSpPr>
          <p:cNvPr id="118" name="Google Shape;118;p4">
            <a:extLst>
              <a:ext uri="{FF2B5EF4-FFF2-40B4-BE49-F238E27FC236}">
                <a16:creationId xmlns:a16="http://schemas.microsoft.com/office/drawing/2014/main" id="{26F60131-FE1F-040D-FD34-0928761890D0}"/>
              </a:ext>
            </a:extLst>
          </p:cNvPr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4">
              <a:extLst>
                <a:ext uri="{FF2B5EF4-FFF2-40B4-BE49-F238E27FC236}">
                  <a16:creationId xmlns:a16="http://schemas.microsoft.com/office/drawing/2014/main" id="{3613085C-B346-4D4C-DB58-9DAA2C58A485}"/>
                </a:ext>
              </a:extLst>
            </p:cNvPr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">
              <a:extLst>
                <a:ext uri="{FF2B5EF4-FFF2-40B4-BE49-F238E27FC236}">
                  <a16:creationId xmlns:a16="http://schemas.microsoft.com/office/drawing/2014/main" id="{304FC198-08DD-F989-FAAC-1EB41AC0540F}"/>
                </a:ext>
              </a:extLst>
            </p:cNvPr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">
              <a:extLst>
                <a:ext uri="{FF2B5EF4-FFF2-40B4-BE49-F238E27FC236}">
                  <a16:creationId xmlns:a16="http://schemas.microsoft.com/office/drawing/2014/main" id="{635D73C3-CCED-210B-1904-7E7C4C1E70C1}"/>
                </a:ext>
              </a:extLst>
            </p:cNvPr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83082B9A-85B4-28F5-84AC-41FBB7CBA623}"/>
              </a:ext>
            </a:extLst>
          </p:cNvPr>
          <p:cNvSpPr/>
          <p:nvPr/>
        </p:nvSpPr>
        <p:spPr>
          <a:xfrm>
            <a:off x="9079825" y="0"/>
            <a:ext cx="31122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INTRODUCCIÓN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00"/>
                </a:solidFill>
                <a:latin typeface="Arial"/>
                <a:ea typeface="Calibri"/>
                <a:cs typeface="Calibri"/>
                <a:sym typeface="Calibri"/>
              </a:rPr>
              <a:t>ARQUITECTURA MVC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INTEGRACIÓN API</a:t>
            </a: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DTOs Y SERVICIOS</a:t>
            </a:r>
            <a:endParaRPr lang="es-ES" sz="4000" dirty="0">
              <a:solidFill>
                <a:schemeClr val="lt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FLUJO DE APIS</a:t>
            </a:r>
            <a:endParaRPr lang="es-ES" sz="4000" dirty="0"/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CONCLUSIONES</a:t>
            </a:r>
            <a:endParaRPr lang="es-ES" sz="4000" dirty="0"/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RECOMENDACIONES</a:t>
            </a:r>
            <a:endParaRPr lang="es-ES" sz="4000" dirty="0">
              <a:solidFill>
                <a:schemeClr val="dk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BIBLIOGRAFÍA </a:t>
            </a:r>
            <a:endParaRPr lang="es-ES" sz="4000" dirty="0"/>
          </a:p>
        </p:txBody>
      </p:sp>
      <p:sp>
        <p:nvSpPr>
          <p:cNvPr id="125" name="TextBox 124"/>
          <p:cNvSpPr txBox="1"/>
          <p:nvPr/>
        </p:nvSpPr>
        <p:spPr>
          <a:xfrm>
            <a:off x="635507" y="1865915"/>
            <a:ext cx="740664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dirty="0" err="1">
                <a:solidFill>
                  <a:srgbClr val="000000"/>
                </a:solidFill>
                <a:latin typeface="Arial"/>
              </a:rPr>
              <a:t>Capas</a:t>
            </a:r>
            <a:r>
              <a:rPr sz="200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principales</a:t>
            </a:r>
            <a:r>
              <a:rPr sz="2000" dirty="0">
                <a:solidFill>
                  <a:srgbClr val="000000"/>
                </a:solidFill>
                <a:latin typeface="Arial"/>
              </a:rPr>
              <a:t> del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flujo</a:t>
            </a:r>
            <a:r>
              <a:rPr sz="2000" dirty="0">
                <a:solidFill>
                  <a:srgbClr val="000000"/>
                </a:solidFill>
                <a:latin typeface="Arial"/>
              </a:rPr>
              <a:t> API:
• Vista Razor: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Proyectos</a:t>
            </a:r>
            <a:r>
              <a:rPr sz="2000" dirty="0">
                <a:solidFill>
                  <a:srgbClr val="000000"/>
                </a:solidFill>
                <a:latin typeface="Arial"/>
              </a:rPr>
              <a:t>/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Index.cshtml</a:t>
            </a:r>
            <a:r>
              <a:rPr sz="2000" dirty="0">
                <a:solidFill>
                  <a:srgbClr val="000000"/>
                </a:solidFill>
                <a:latin typeface="Arial"/>
              </a:rPr>
              <a:t> y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Planificacion.cshtml</a:t>
            </a:r>
            <a:r>
              <a:rPr sz="200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muestran</a:t>
            </a:r>
            <a:r>
              <a:rPr sz="200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tablas</a:t>
            </a:r>
            <a:r>
              <a:rPr sz="2000" dirty="0">
                <a:solidFill>
                  <a:srgbClr val="000000"/>
                </a:solidFill>
                <a:latin typeface="Arial"/>
              </a:rPr>
              <a:t>, tabs y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modales</a:t>
            </a:r>
            <a:r>
              <a:rPr sz="2000" dirty="0">
                <a:solidFill>
                  <a:srgbClr val="000000"/>
                </a:solidFill>
                <a:latin typeface="Arial"/>
              </a:rPr>
              <a:t>.
•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Cliente</a:t>
            </a:r>
            <a:r>
              <a:rPr sz="2000" dirty="0">
                <a:solidFill>
                  <a:srgbClr val="000000"/>
                </a:solidFill>
                <a:latin typeface="Arial"/>
              </a:rPr>
              <a:t> JS: proyectos.js, equipo-proyecto.js y planificacion-proyecto.js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serializan</a:t>
            </a:r>
            <a:r>
              <a:rPr sz="200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formularios</a:t>
            </a:r>
            <a:r>
              <a:rPr sz="2000" dirty="0">
                <a:solidFill>
                  <a:srgbClr val="000000"/>
                </a:solidFill>
                <a:latin typeface="Arial"/>
              </a:rPr>
              <a:t> a JSON.
• API REST: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ProyectosController</a:t>
            </a:r>
            <a:r>
              <a:rPr sz="2000" dirty="0">
                <a:solidFill>
                  <a:srgbClr val="000000"/>
                </a:solidFill>
                <a:latin typeface="Arial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AsignacionesProyectoController</a:t>
            </a:r>
            <a:r>
              <a:rPr sz="2000" dirty="0">
                <a:solidFill>
                  <a:srgbClr val="000000"/>
                </a:solidFill>
                <a:latin typeface="Arial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PlanificacionProyectoController</a:t>
            </a:r>
            <a:r>
              <a:rPr sz="2000" dirty="0">
                <a:solidFill>
                  <a:srgbClr val="000000"/>
                </a:solidFill>
                <a:latin typeface="Arial"/>
              </a:rPr>
              <a:t> y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SeguimientosProyectoController</a:t>
            </a:r>
            <a:r>
              <a:rPr sz="2000" dirty="0">
                <a:solidFill>
                  <a:srgbClr val="000000"/>
                </a:solidFill>
                <a:latin typeface="Arial"/>
              </a:rPr>
              <a:t>.
•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Servicios</a:t>
            </a:r>
            <a:r>
              <a:rPr sz="2000" dirty="0">
                <a:solidFill>
                  <a:srgbClr val="000000"/>
                </a:solidFill>
                <a:latin typeface="Arial"/>
              </a:rPr>
              <a:t>: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validan</a:t>
            </a:r>
            <a:r>
              <a:rPr sz="200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estados</a:t>
            </a:r>
            <a:r>
              <a:rPr sz="2000" dirty="0">
                <a:solidFill>
                  <a:srgbClr val="000000"/>
                </a:solidFill>
                <a:latin typeface="Arial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fechas</a:t>
            </a:r>
            <a:r>
              <a:rPr sz="2000" dirty="0">
                <a:solidFill>
                  <a:srgbClr val="000000"/>
                </a:solidFill>
                <a:latin typeface="Arial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capacidad</a:t>
            </a:r>
            <a:r>
              <a:rPr sz="2000" dirty="0">
                <a:solidFill>
                  <a:srgbClr val="000000"/>
                </a:solidFill>
                <a:latin typeface="Arial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avance</a:t>
            </a:r>
            <a:r>
              <a:rPr sz="2000" dirty="0">
                <a:solidFill>
                  <a:srgbClr val="000000"/>
                </a:solidFill>
                <a:latin typeface="Arial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cierre</a:t>
            </a:r>
            <a:r>
              <a:rPr sz="2000" dirty="0">
                <a:solidFill>
                  <a:srgbClr val="000000"/>
                </a:solidFill>
                <a:latin typeface="Arial"/>
              </a:rPr>
              <a:t> y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permisos</a:t>
            </a:r>
            <a:r>
              <a:rPr sz="2000" dirty="0">
                <a:solidFill>
                  <a:srgbClr val="000000"/>
                </a:solidFill>
                <a:latin typeface="Arial"/>
              </a:rPr>
              <a:t>.
•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Repositorios</a:t>
            </a:r>
            <a:r>
              <a:rPr sz="2000" dirty="0">
                <a:solidFill>
                  <a:srgbClr val="000000"/>
                </a:solidFill>
                <a:latin typeface="Arial"/>
              </a:rPr>
              <a:t>: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ejecutan</a:t>
            </a:r>
            <a:r>
              <a:rPr sz="200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consultas</a:t>
            </a:r>
            <a:r>
              <a:rPr sz="2000" dirty="0">
                <a:solidFill>
                  <a:srgbClr val="000000"/>
                </a:solidFill>
                <a:latin typeface="Arial"/>
              </a:rPr>
              <a:t> y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persistencia</a:t>
            </a:r>
            <a:r>
              <a:rPr sz="200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sobre</a:t>
            </a:r>
            <a:r>
              <a:rPr sz="2000" dirty="0">
                <a:solidFill>
                  <a:srgbClr val="000000"/>
                </a:solidFill>
                <a:latin typeface="Arial"/>
              </a:rPr>
              <a:t> la base del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sistema</a:t>
            </a:r>
            <a:r>
              <a:rPr sz="20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2830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AADDEC1D-9BA7-6754-6DA7-EA8E972FC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>
            <a:extLst>
              <a:ext uri="{FF2B5EF4-FFF2-40B4-BE49-F238E27FC236}">
                <a16:creationId xmlns:a16="http://schemas.microsoft.com/office/drawing/2014/main" id="{90E0AA5D-7080-EFA0-1164-7CB89A06A3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4" descr="Imagen que contiene electrónica, circuito&#10;&#10;Descripción generada automáticamente">
            <a:extLst>
              <a:ext uri="{FF2B5EF4-FFF2-40B4-BE49-F238E27FC236}">
                <a16:creationId xmlns:a16="http://schemas.microsoft.com/office/drawing/2014/main" id="{4F0C737F-4C73-EB3A-1C34-8C1951BC8FA8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>
            <a:extLst>
              <a:ext uri="{FF2B5EF4-FFF2-40B4-BE49-F238E27FC236}">
                <a16:creationId xmlns:a16="http://schemas.microsoft.com/office/drawing/2014/main" id="{D56A9E70-5E30-C1A4-4B78-3596BD4F0370}"/>
              </a:ext>
            </a:extLst>
          </p:cNvPr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75BFE35A-5343-C800-0730-61A9E6EC83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1800">
                <a:solidFill>
                  <a:srgbClr val="FFFFFF"/>
                </a:solidFill>
              </a:rPr>
              <a:t>INTEGRACIÓN API</a:t>
            </a:r>
            <a:endParaRPr dirty="0"/>
          </a:p>
        </p:txBody>
      </p:sp>
      <p:grpSp>
        <p:nvGrpSpPr>
          <p:cNvPr id="118" name="Google Shape;118;p4">
            <a:extLst>
              <a:ext uri="{FF2B5EF4-FFF2-40B4-BE49-F238E27FC236}">
                <a16:creationId xmlns:a16="http://schemas.microsoft.com/office/drawing/2014/main" id="{E1E740F1-9165-A1E8-61F4-700ED4D1B8FA}"/>
              </a:ext>
            </a:extLst>
          </p:cNvPr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4">
              <a:extLst>
                <a:ext uri="{FF2B5EF4-FFF2-40B4-BE49-F238E27FC236}">
                  <a16:creationId xmlns:a16="http://schemas.microsoft.com/office/drawing/2014/main" id="{6473F8E2-7A3F-F72C-E873-06C357CC92A3}"/>
                </a:ext>
              </a:extLst>
            </p:cNvPr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">
              <a:extLst>
                <a:ext uri="{FF2B5EF4-FFF2-40B4-BE49-F238E27FC236}">
                  <a16:creationId xmlns:a16="http://schemas.microsoft.com/office/drawing/2014/main" id="{789A8E5F-4F29-DA90-7C38-4DF1AA5F9EBB}"/>
                </a:ext>
              </a:extLst>
            </p:cNvPr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">
              <a:extLst>
                <a:ext uri="{FF2B5EF4-FFF2-40B4-BE49-F238E27FC236}">
                  <a16:creationId xmlns:a16="http://schemas.microsoft.com/office/drawing/2014/main" id="{41486470-A393-19EF-6CD3-16ECC8AF8CA4}"/>
                </a:ext>
              </a:extLst>
            </p:cNvPr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9BDD329C-82E7-0595-84CD-0FFB77F83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7" y="2068977"/>
            <a:ext cx="8305500" cy="30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lvl="0" indent="0" algn="l">
              <a:lnSpc>
                <a:spcPct val="150000"/>
              </a:lnSpc>
              <a:buNone/>
            </a:pPr>
            <a:r>
              <a:rPr sz="2800">
                <a:solidFill>
                  <a:srgbClr val="404040"/>
                </a:solidFill>
                <a:latin typeface="Arial"/>
              </a:rPr>
              <a:t>Una API es una interfaz que permite que dos componentes se comuniquen mediante reglas claras. En este proyecto, las APIs REST exponen rutas como /api/v1/proyectos y /api/v1/proyectos/{codigo}/planificacion. Cada endpoint usa verbos HTTP: GET para consultar, POST para crear, PUT para actualizar, PATCH para cambios parciales y DELETE para retirar registros.</a:t>
            </a:r>
            <a:endParaRPr sz="3600" dirty="0">
              <a:latin typeface="Cambria" panose="02040503050406030204" pitchFamily="18" charset="0"/>
              <a:ea typeface="Cambria" panose="02040503050406030204" pitchFamily="18" charset="0"/>
              <a:cs typeface="Times New Roman"/>
              <a:sym typeface="Times New Roman"/>
            </a:endParaRPr>
          </a:p>
        </p:txBody>
      </p:sp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A1D1B88A-8ED7-9DE8-E989-B6F046FE6078}"/>
              </a:ext>
            </a:extLst>
          </p:cNvPr>
          <p:cNvSpPr/>
          <p:nvPr/>
        </p:nvSpPr>
        <p:spPr>
          <a:xfrm>
            <a:off x="9079825" y="0"/>
            <a:ext cx="31122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INTRODUCCIÓN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ARQUITECTURA MVC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00"/>
                </a:solidFill>
                <a:latin typeface="Arial"/>
                <a:ea typeface="Calibri"/>
                <a:cs typeface="Calibri"/>
                <a:sym typeface="Calibri"/>
              </a:rPr>
              <a:t>INTEGRACIÓN API</a:t>
            </a: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DTOs Y SERVICIOS</a:t>
            </a:r>
            <a:endParaRPr lang="es-ES" sz="4000" dirty="0">
              <a:solidFill>
                <a:schemeClr val="lt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FLUJO DE APIS</a:t>
            </a:r>
            <a:endParaRPr lang="es-ES" sz="4000" dirty="0"/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CONCLUSIONES</a:t>
            </a:r>
            <a:endParaRPr lang="es-ES" sz="4000" dirty="0"/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RECOMENDACIONES</a:t>
            </a:r>
            <a:endParaRPr lang="es-ES" sz="4000" dirty="0">
              <a:solidFill>
                <a:schemeClr val="dk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BIBLIOGRAFÍA </a:t>
            </a:r>
            <a:endParaRPr lang="es-ES" sz="4000" dirty="0"/>
          </a:p>
        </p:txBody>
      </p:sp>
    </p:spTree>
    <p:extLst>
      <p:ext uri="{BB962C8B-B14F-4D97-AF65-F5344CB8AC3E}">
        <p14:creationId xmlns:p14="http://schemas.microsoft.com/office/powerpoint/2010/main" val="342531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088B8DAE-3B5B-B43D-2691-D1DF0B7A5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>
            <a:extLst>
              <a:ext uri="{FF2B5EF4-FFF2-40B4-BE49-F238E27FC236}">
                <a16:creationId xmlns:a16="http://schemas.microsoft.com/office/drawing/2014/main" id="{CF545C58-D5A1-995D-8116-71EE2DDA50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4" descr="Imagen que contiene electrónica, circuito&#10;&#10;Descripción generada automáticamente">
            <a:extLst>
              <a:ext uri="{FF2B5EF4-FFF2-40B4-BE49-F238E27FC236}">
                <a16:creationId xmlns:a16="http://schemas.microsoft.com/office/drawing/2014/main" id="{A15B7E14-F7BC-8A62-5314-9BC6EBD57F91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>
            <a:extLst>
              <a:ext uri="{FF2B5EF4-FFF2-40B4-BE49-F238E27FC236}">
                <a16:creationId xmlns:a16="http://schemas.microsoft.com/office/drawing/2014/main" id="{EB17B993-6ED8-3F04-9234-CA9225409C39}"/>
              </a:ext>
            </a:extLst>
          </p:cNvPr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AFAE85D8-AE62-CF44-8A0E-83CC90216C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1800">
                <a:solidFill>
                  <a:srgbClr val="FFFFFF"/>
                </a:solidFill>
              </a:rPr>
              <a:t>INTEGRACIÓN API</a:t>
            </a:r>
            <a:endParaRPr dirty="0"/>
          </a:p>
        </p:txBody>
      </p:sp>
      <p:grpSp>
        <p:nvGrpSpPr>
          <p:cNvPr id="118" name="Google Shape;118;p4">
            <a:extLst>
              <a:ext uri="{FF2B5EF4-FFF2-40B4-BE49-F238E27FC236}">
                <a16:creationId xmlns:a16="http://schemas.microsoft.com/office/drawing/2014/main" id="{03ADD671-EDAA-580A-292D-27A67E678D43}"/>
              </a:ext>
            </a:extLst>
          </p:cNvPr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4">
              <a:extLst>
                <a:ext uri="{FF2B5EF4-FFF2-40B4-BE49-F238E27FC236}">
                  <a16:creationId xmlns:a16="http://schemas.microsoft.com/office/drawing/2014/main" id="{4B792347-92E0-6766-A8D9-B469292E34D8}"/>
                </a:ext>
              </a:extLst>
            </p:cNvPr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">
              <a:extLst>
                <a:ext uri="{FF2B5EF4-FFF2-40B4-BE49-F238E27FC236}">
                  <a16:creationId xmlns:a16="http://schemas.microsoft.com/office/drawing/2014/main" id="{F1B3C49E-08B6-4997-03EA-89F86A660CAB}"/>
                </a:ext>
              </a:extLst>
            </p:cNvPr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">
              <a:extLst>
                <a:ext uri="{FF2B5EF4-FFF2-40B4-BE49-F238E27FC236}">
                  <a16:creationId xmlns:a16="http://schemas.microsoft.com/office/drawing/2014/main" id="{446DF261-E736-D5CA-F4F2-F3051F7E895C}"/>
                </a:ext>
              </a:extLst>
            </p:cNvPr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37940EBB-B46D-5D2E-66D8-937597C2777E}"/>
              </a:ext>
            </a:extLst>
          </p:cNvPr>
          <p:cNvSpPr/>
          <p:nvPr/>
        </p:nvSpPr>
        <p:spPr>
          <a:xfrm>
            <a:off x="9079825" y="0"/>
            <a:ext cx="31122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INTRODUCCIÓN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ARQUITECTURA MVC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00"/>
                </a:solidFill>
                <a:latin typeface="Arial"/>
                <a:ea typeface="Calibri"/>
                <a:cs typeface="Calibri"/>
                <a:sym typeface="Calibri"/>
              </a:rPr>
              <a:t>INTEGRACIÓN API</a:t>
            </a: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DTOs Y SERVICIOS</a:t>
            </a:r>
            <a:endParaRPr lang="es-ES" sz="4000" dirty="0">
              <a:solidFill>
                <a:schemeClr val="lt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FLUJO DE APIS</a:t>
            </a:r>
            <a:endParaRPr lang="es-ES" sz="4000" dirty="0"/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CONCLUSIONES</a:t>
            </a:r>
            <a:endParaRPr lang="es-ES" sz="4000" dirty="0"/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RECOMENDACIONES</a:t>
            </a:r>
            <a:endParaRPr lang="es-ES" sz="4000" dirty="0">
              <a:solidFill>
                <a:schemeClr val="dk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BIBLIOGRAFÍA </a:t>
            </a:r>
            <a:endParaRPr lang="es-ES" sz="4000" dirty="0"/>
          </a:p>
        </p:txBody>
      </p:sp>
      <p:sp>
        <p:nvSpPr>
          <p:cNvPr id="125" name="TextBox 124"/>
          <p:cNvSpPr txBox="1"/>
          <p:nvPr/>
        </p:nvSpPr>
        <p:spPr>
          <a:xfrm>
            <a:off x="635507" y="1945913"/>
            <a:ext cx="740664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dirty="0">
                <a:solidFill>
                  <a:srgbClr val="000000"/>
                </a:solidFill>
                <a:latin typeface="Arial"/>
              </a:rPr>
              <a:t>La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integración</a:t>
            </a:r>
            <a:r>
              <a:rPr sz="2200" dirty="0">
                <a:solidFill>
                  <a:srgbClr val="000000"/>
                </a:solidFill>
                <a:latin typeface="Arial"/>
              </a:rPr>
              <a:t> se protege con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sesión</a:t>
            </a:r>
            <a:r>
              <a:rPr sz="2200" dirty="0">
                <a:solidFill>
                  <a:srgbClr val="000000"/>
                </a:solidFill>
                <a:latin typeface="Arial"/>
              </a:rPr>
              <a:t>,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permisos</a:t>
            </a:r>
            <a:r>
              <a:rPr sz="2200" dirty="0">
                <a:solidFill>
                  <a:srgbClr val="000000"/>
                </a:solidFill>
                <a:latin typeface="Arial"/>
              </a:rPr>
              <a:t> y token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antifalsificación</a:t>
            </a:r>
            <a:r>
              <a:rPr sz="2200" dirty="0">
                <a:solidFill>
                  <a:srgbClr val="000000"/>
                </a:solidFill>
                <a:latin typeface="Arial"/>
              </a:rPr>
              <a:t>. Los endpoints que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modifican</a:t>
            </a:r>
            <a:r>
              <a:rPr sz="2200" dirty="0">
                <a:solidFill>
                  <a:srgbClr val="000000"/>
                </a:solidFill>
                <a:latin typeface="Arial"/>
              </a:rPr>
              <a:t>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datos</a:t>
            </a:r>
            <a:r>
              <a:rPr sz="2200" dirty="0">
                <a:solidFill>
                  <a:srgbClr val="000000"/>
                </a:solidFill>
                <a:latin typeface="Arial"/>
              </a:rPr>
              <a:t>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usan</a:t>
            </a:r>
            <a:r>
              <a:rPr sz="2200" dirty="0">
                <a:solidFill>
                  <a:srgbClr val="000000"/>
                </a:solidFill>
                <a:latin typeface="Arial"/>
              </a:rPr>
              <a:t>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ValidateAntiForgeryToken</a:t>
            </a:r>
            <a:r>
              <a:rPr sz="2200" dirty="0">
                <a:solidFill>
                  <a:srgbClr val="000000"/>
                </a:solidFill>
                <a:latin typeface="Arial"/>
              </a:rPr>
              <a:t> y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el</a:t>
            </a:r>
            <a:r>
              <a:rPr sz="2200" dirty="0">
                <a:solidFill>
                  <a:srgbClr val="000000"/>
                </a:solidFill>
                <a:latin typeface="Arial"/>
              </a:rPr>
              <a:t>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cliente</a:t>
            </a:r>
            <a:r>
              <a:rPr sz="2200" dirty="0">
                <a:solidFill>
                  <a:srgbClr val="000000"/>
                </a:solidFill>
                <a:latin typeface="Arial"/>
              </a:rPr>
              <a:t>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envía</a:t>
            </a:r>
            <a:r>
              <a:rPr sz="2200" dirty="0">
                <a:solidFill>
                  <a:srgbClr val="000000"/>
                </a:solidFill>
                <a:latin typeface="Arial"/>
              </a:rPr>
              <a:t>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el</a:t>
            </a:r>
            <a:r>
              <a:rPr sz="2200" dirty="0">
                <a:solidFill>
                  <a:srgbClr val="000000"/>
                </a:solidFill>
                <a:latin typeface="Arial"/>
              </a:rPr>
              <a:t>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encabezado</a:t>
            </a:r>
            <a:r>
              <a:rPr sz="2200" dirty="0">
                <a:solidFill>
                  <a:srgbClr val="000000"/>
                </a:solidFill>
                <a:latin typeface="Arial"/>
              </a:rPr>
              <a:t> X-CSRF-TOKEN.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Además</a:t>
            </a:r>
            <a:r>
              <a:rPr sz="2200" dirty="0">
                <a:solidFill>
                  <a:srgbClr val="000000"/>
                </a:solidFill>
                <a:latin typeface="Arial"/>
              </a:rPr>
              <a:t>,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PermisoRequerido</a:t>
            </a:r>
            <a:r>
              <a:rPr sz="2200" dirty="0">
                <a:solidFill>
                  <a:srgbClr val="000000"/>
                </a:solidFill>
                <a:latin typeface="Arial"/>
              </a:rPr>
              <a:t>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valida</a:t>
            </a:r>
            <a:r>
              <a:rPr sz="2200" dirty="0">
                <a:solidFill>
                  <a:srgbClr val="000000"/>
                </a:solidFill>
                <a:latin typeface="Arial"/>
              </a:rPr>
              <a:t>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si</a:t>
            </a:r>
            <a:r>
              <a:rPr sz="2200" dirty="0">
                <a:solidFill>
                  <a:srgbClr val="000000"/>
                </a:solidFill>
                <a:latin typeface="Arial"/>
              </a:rPr>
              <a:t>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el</a:t>
            </a:r>
            <a:r>
              <a:rPr sz="2200" dirty="0">
                <a:solidFill>
                  <a:srgbClr val="000000"/>
                </a:solidFill>
                <a:latin typeface="Arial"/>
              </a:rPr>
              <a:t>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usuario</a:t>
            </a:r>
            <a:r>
              <a:rPr sz="2200" dirty="0">
                <a:solidFill>
                  <a:srgbClr val="000000"/>
                </a:solidFill>
                <a:latin typeface="Arial"/>
              </a:rPr>
              <a:t>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puede</a:t>
            </a:r>
            <a:r>
              <a:rPr sz="2200" dirty="0">
                <a:solidFill>
                  <a:srgbClr val="000000"/>
                </a:solidFill>
                <a:latin typeface="Arial"/>
              </a:rPr>
              <a:t>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ver</a:t>
            </a:r>
            <a:r>
              <a:rPr sz="2200" dirty="0">
                <a:solidFill>
                  <a:srgbClr val="000000"/>
                </a:solidFill>
                <a:latin typeface="Arial"/>
              </a:rPr>
              <a:t>,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crear</a:t>
            </a:r>
            <a:r>
              <a:rPr sz="2200" dirty="0">
                <a:solidFill>
                  <a:srgbClr val="000000"/>
                </a:solidFill>
                <a:latin typeface="Arial"/>
              </a:rPr>
              <a:t>,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editar</a:t>
            </a:r>
            <a:r>
              <a:rPr sz="2200" dirty="0">
                <a:solidFill>
                  <a:srgbClr val="000000"/>
                </a:solidFill>
                <a:latin typeface="Arial"/>
              </a:rPr>
              <a:t> o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eliminar</a:t>
            </a:r>
            <a:r>
              <a:rPr sz="2200" dirty="0">
                <a:solidFill>
                  <a:srgbClr val="000000"/>
                </a:solidFill>
                <a:latin typeface="Arial"/>
              </a:rPr>
              <a:t>. Las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respuestas</a:t>
            </a:r>
            <a:r>
              <a:rPr sz="2200" dirty="0">
                <a:solidFill>
                  <a:srgbClr val="000000"/>
                </a:solidFill>
                <a:latin typeface="Arial"/>
              </a:rPr>
              <a:t>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siguen</a:t>
            </a:r>
            <a:r>
              <a:rPr sz="2200" dirty="0">
                <a:solidFill>
                  <a:srgbClr val="000000"/>
                </a:solidFill>
                <a:latin typeface="Arial"/>
              </a:rPr>
              <a:t>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ApiRespuesta</a:t>
            </a:r>
            <a:r>
              <a:rPr sz="2200" dirty="0">
                <a:solidFill>
                  <a:srgbClr val="000000"/>
                </a:solidFill>
                <a:latin typeface="Arial"/>
              </a:rPr>
              <a:t>&lt;T&gt;, con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datos</a:t>
            </a:r>
            <a:r>
              <a:rPr sz="2200" dirty="0">
                <a:solidFill>
                  <a:srgbClr val="000000"/>
                </a:solidFill>
                <a:latin typeface="Arial"/>
              </a:rPr>
              <a:t>,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mensaje</a:t>
            </a:r>
            <a:r>
              <a:rPr sz="2200" dirty="0">
                <a:solidFill>
                  <a:srgbClr val="000000"/>
                </a:solidFill>
                <a:latin typeface="Arial"/>
              </a:rPr>
              <a:t> y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estado</a:t>
            </a:r>
            <a:r>
              <a:rPr sz="2200" dirty="0">
                <a:solidFill>
                  <a:srgbClr val="000000"/>
                </a:solidFill>
                <a:latin typeface="Arial"/>
              </a:rPr>
              <a:t> </a:t>
            </a:r>
            <a:r>
              <a:rPr sz="2200" dirty="0" err="1">
                <a:solidFill>
                  <a:srgbClr val="000000"/>
                </a:solidFill>
                <a:latin typeface="Arial"/>
              </a:rPr>
              <a:t>controlado</a:t>
            </a:r>
            <a:r>
              <a:rPr sz="22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7514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891E3AEB-5431-F0E0-ED3E-DB628764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>
            <a:extLst>
              <a:ext uri="{FF2B5EF4-FFF2-40B4-BE49-F238E27FC236}">
                <a16:creationId xmlns:a16="http://schemas.microsoft.com/office/drawing/2014/main" id="{344108CF-1C10-23E4-20E4-03643AF674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4" descr="Imagen que contiene electrónica, circuito&#10;&#10;Descripción generada automáticamente">
            <a:extLst>
              <a:ext uri="{FF2B5EF4-FFF2-40B4-BE49-F238E27FC236}">
                <a16:creationId xmlns:a16="http://schemas.microsoft.com/office/drawing/2014/main" id="{EBABEE09-6919-CDB8-9886-98C687500062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>
            <a:extLst>
              <a:ext uri="{FF2B5EF4-FFF2-40B4-BE49-F238E27FC236}">
                <a16:creationId xmlns:a16="http://schemas.microsoft.com/office/drawing/2014/main" id="{2F1CAE7F-F4C9-CBD2-4E84-9FAB24062E8D}"/>
              </a:ext>
            </a:extLst>
          </p:cNvPr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73556BDC-32BF-27C5-2278-F37E03DB2B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1800">
                <a:solidFill>
                  <a:srgbClr val="FFFFFF"/>
                </a:solidFill>
              </a:rPr>
              <a:t>DTOs Y SERVICIOS</a:t>
            </a:r>
            <a:endParaRPr dirty="0"/>
          </a:p>
        </p:txBody>
      </p:sp>
      <p:grpSp>
        <p:nvGrpSpPr>
          <p:cNvPr id="118" name="Google Shape;118;p4">
            <a:extLst>
              <a:ext uri="{FF2B5EF4-FFF2-40B4-BE49-F238E27FC236}">
                <a16:creationId xmlns:a16="http://schemas.microsoft.com/office/drawing/2014/main" id="{2DFC7882-6E4F-79C7-934E-4C54BAA9E8E2}"/>
              </a:ext>
            </a:extLst>
          </p:cNvPr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4">
              <a:extLst>
                <a:ext uri="{FF2B5EF4-FFF2-40B4-BE49-F238E27FC236}">
                  <a16:creationId xmlns:a16="http://schemas.microsoft.com/office/drawing/2014/main" id="{EF30539D-C833-64AA-7186-00ADE721E213}"/>
                </a:ext>
              </a:extLst>
            </p:cNvPr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">
              <a:extLst>
                <a:ext uri="{FF2B5EF4-FFF2-40B4-BE49-F238E27FC236}">
                  <a16:creationId xmlns:a16="http://schemas.microsoft.com/office/drawing/2014/main" id="{2CB1A6A3-6B87-0E91-1E7A-DCBE0D76749E}"/>
                </a:ext>
              </a:extLst>
            </p:cNvPr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">
              <a:extLst>
                <a:ext uri="{FF2B5EF4-FFF2-40B4-BE49-F238E27FC236}">
                  <a16:creationId xmlns:a16="http://schemas.microsoft.com/office/drawing/2014/main" id="{025FBB9D-0D35-35F3-7E17-D9D2ED7DB436}"/>
                </a:ext>
              </a:extLst>
            </p:cNvPr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7953240D-175D-392C-9C4D-67BDECCF6B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7" y="2068977"/>
            <a:ext cx="8305500" cy="30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23444" indent="0" algn="l">
              <a:buNone/>
            </a:pPr>
            <a:r>
              <a:rPr sz="2400">
                <a:solidFill>
                  <a:srgbClr val="404040"/>
                </a:solidFill>
                <a:latin typeface="Arial"/>
              </a:rPr>
              <a:t>Los DTOs reciben información limpia desde la interfaz: GuardarProyectoDto, GuardarAsignacionDto, GuardarFaseProyectoDto, GuardarTareaProyectoDto y FinalizarProyectoDto. Los servicios transforman esos datos en entidades como Proyecto, AsignacionProyecto, FaseProyecto, ActividadProyecto, TareaProyecto y EntregableProyecto. Esta separación evita exponer directamente la estructura interna de persistencia.</a:t>
            </a:r>
          </a:p>
        </p:txBody>
      </p:sp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F6BACFA2-1532-1FFD-AFBF-36D009183E1F}"/>
              </a:ext>
            </a:extLst>
          </p:cNvPr>
          <p:cNvSpPr/>
          <p:nvPr/>
        </p:nvSpPr>
        <p:spPr>
          <a:xfrm>
            <a:off x="9079825" y="0"/>
            <a:ext cx="31122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INTRODUCCIÓN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ARQUITECTURA MVC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INTEGRACIÓN API</a:t>
            </a: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00"/>
                </a:solidFill>
                <a:latin typeface="Arial"/>
                <a:ea typeface="Calibri"/>
                <a:cs typeface="Calibri"/>
                <a:sym typeface="Calibri"/>
              </a:rPr>
              <a:t>DTOs Y SERVICIOS</a:t>
            </a:r>
            <a:endParaRPr lang="es-ES" sz="4000" dirty="0">
              <a:solidFill>
                <a:srgbClr val="FFFF00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FLUJO DE APIS</a:t>
            </a:r>
            <a:endParaRPr lang="es-ES" sz="4000" dirty="0"/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CONCLUSIONES</a:t>
            </a:r>
            <a:endParaRPr lang="es-ES" sz="4000" dirty="0"/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RECOMENDACIONES</a:t>
            </a:r>
            <a:endParaRPr lang="es-ES" sz="4000" dirty="0">
              <a:solidFill>
                <a:schemeClr val="dk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BIBLIOGRAFÍA </a:t>
            </a:r>
            <a:endParaRPr lang="es-ES" sz="4000" dirty="0"/>
          </a:p>
        </p:txBody>
      </p:sp>
    </p:spTree>
    <p:extLst>
      <p:ext uri="{BB962C8B-B14F-4D97-AF65-F5344CB8AC3E}">
        <p14:creationId xmlns:p14="http://schemas.microsoft.com/office/powerpoint/2010/main" val="2581171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96409AFA-2800-DFCE-02B9-B44A88629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>
            <a:extLst>
              <a:ext uri="{FF2B5EF4-FFF2-40B4-BE49-F238E27FC236}">
                <a16:creationId xmlns:a16="http://schemas.microsoft.com/office/drawing/2014/main" id="{D3EE5145-7838-C643-4F37-D22EE0722C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4" descr="Imagen que contiene electrónica, circuito&#10;&#10;Descripción generada automáticamente">
            <a:extLst>
              <a:ext uri="{FF2B5EF4-FFF2-40B4-BE49-F238E27FC236}">
                <a16:creationId xmlns:a16="http://schemas.microsoft.com/office/drawing/2014/main" id="{999160CE-CB5B-08B3-B64B-5EE79B7C211F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>
            <a:extLst>
              <a:ext uri="{FF2B5EF4-FFF2-40B4-BE49-F238E27FC236}">
                <a16:creationId xmlns:a16="http://schemas.microsoft.com/office/drawing/2014/main" id="{5C23D133-78E7-E8F5-0418-2EA939386218}"/>
              </a:ext>
            </a:extLst>
          </p:cNvPr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B6B182E0-9831-5E98-9713-568A24B074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1800">
                <a:solidFill>
                  <a:srgbClr val="FFFFFF"/>
                </a:solidFill>
              </a:rPr>
              <a:t>FLUJO DE APIS</a:t>
            </a:r>
            <a:endParaRPr dirty="0"/>
          </a:p>
        </p:txBody>
      </p:sp>
      <p:grpSp>
        <p:nvGrpSpPr>
          <p:cNvPr id="118" name="Google Shape;118;p4">
            <a:extLst>
              <a:ext uri="{FF2B5EF4-FFF2-40B4-BE49-F238E27FC236}">
                <a16:creationId xmlns:a16="http://schemas.microsoft.com/office/drawing/2014/main" id="{D86C3FCC-07BB-8F78-66F3-1356112F2AAD}"/>
              </a:ext>
            </a:extLst>
          </p:cNvPr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4">
              <a:extLst>
                <a:ext uri="{FF2B5EF4-FFF2-40B4-BE49-F238E27FC236}">
                  <a16:creationId xmlns:a16="http://schemas.microsoft.com/office/drawing/2014/main" id="{761E2BC5-7F48-6D4B-1356-F9D212C0388B}"/>
                </a:ext>
              </a:extLst>
            </p:cNvPr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">
              <a:extLst>
                <a:ext uri="{FF2B5EF4-FFF2-40B4-BE49-F238E27FC236}">
                  <a16:creationId xmlns:a16="http://schemas.microsoft.com/office/drawing/2014/main" id="{1E6793E0-7069-5404-5159-BF9850746A50}"/>
                </a:ext>
              </a:extLst>
            </p:cNvPr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">
              <a:extLst>
                <a:ext uri="{FF2B5EF4-FFF2-40B4-BE49-F238E27FC236}">
                  <a16:creationId xmlns:a16="http://schemas.microsoft.com/office/drawing/2014/main" id="{15B9FB14-F3AD-A7A9-0730-ADDDF16649F4}"/>
                </a:ext>
              </a:extLst>
            </p:cNvPr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3750578B-D23F-951D-D628-A7904054FC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2281725"/>
            <a:ext cx="8305500" cy="30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0" lvl="0" indent="0" algn="l">
              <a:lnSpc>
                <a:spcPct val="150000"/>
              </a:lnSpc>
              <a:buNone/>
            </a:pPr>
            <a:r>
              <a:rPr sz="2400" dirty="0" err="1">
                <a:solidFill>
                  <a:srgbClr val="404040"/>
                </a:solidFill>
                <a:latin typeface="Arial"/>
              </a:rPr>
              <a:t>Flujo</a:t>
            </a:r>
            <a:r>
              <a:rPr sz="2400" dirty="0">
                <a:solidFill>
                  <a:srgbClr val="404040"/>
                </a:solidFill>
                <a:latin typeface="Arial"/>
              </a:rPr>
              <a:t> de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gestión</a:t>
            </a:r>
            <a:r>
              <a:rPr sz="2400" dirty="0">
                <a:solidFill>
                  <a:srgbClr val="404040"/>
                </a:solidFill>
                <a:latin typeface="Arial"/>
              </a:rPr>
              <a:t> de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proyectos</a:t>
            </a:r>
            <a:r>
              <a:rPr sz="2400" dirty="0">
                <a:solidFill>
                  <a:srgbClr val="404040"/>
                </a:solidFill>
                <a:latin typeface="Arial"/>
              </a:rPr>
              <a:t>: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Times New Roman"/>
              <a:sym typeface="Times New Roman"/>
            </a:endParaRPr>
          </a:p>
          <a:p>
            <a:pPr algn="l"/>
            <a:r>
              <a:rPr sz="2400" dirty="0">
                <a:solidFill>
                  <a:srgbClr val="404040"/>
                </a:solidFill>
                <a:latin typeface="Arial"/>
              </a:rPr>
              <a:t>1. proyectos.js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solicita</a:t>
            </a:r>
            <a:r>
              <a:rPr sz="2400" dirty="0">
                <a:solidFill>
                  <a:srgbClr val="404040"/>
                </a:solidFill>
                <a:latin typeface="Arial"/>
              </a:rPr>
              <a:t> GET /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api</a:t>
            </a:r>
            <a:r>
              <a:rPr sz="2400" dirty="0">
                <a:solidFill>
                  <a:srgbClr val="404040"/>
                </a:solidFill>
                <a:latin typeface="Arial"/>
              </a:rPr>
              <a:t>/v1/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proyectos</a:t>
            </a:r>
            <a:r>
              <a:rPr sz="2400" dirty="0">
                <a:solidFill>
                  <a:srgbClr val="404040"/>
                </a:solidFill>
                <a:latin typeface="Arial"/>
              </a:rPr>
              <a:t> para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llenar</a:t>
            </a:r>
            <a:r>
              <a:rPr sz="2400" dirty="0">
                <a:solidFill>
                  <a:srgbClr val="404040"/>
                </a:solidFill>
                <a:latin typeface="Arial"/>
              </a:rPr>
              <a:t> la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tabla</a:t>
            </a:r>
            <a:r>
              <a:rPr sz="2400" dirty="0">
                <a:solidFill>
                  <a:srgbClr val="404040"/>
                </a:solidFill>
                <a:latin typeface="Arial"/>
              </a:rPr>
              <a:t>.</a:t>
            </a:r>
          </a:p>
          <a:p>
            <a:pPr algn="l"/>
            <a:r>
              <a:rPr sz="2400" dirty="0">
                <a:solidFill>
                  <a:srgbClr val="404040"/>
                </a:solidFill>
                <a:latin typeface="Arial"/>
              </a:rPr>
              <a:t>2. El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usuario</a:t>
            </a:r>
            <a:r>
              <a:rPr sz="2400" dirty="0">
                <a:solidFill>
                  <a:srgbClr val="404040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abre</a:t>
            </a:r>
            <a:r>
              <a:rPr sz="2400" dirty="0">
                <a:solidFill>
                  <a:srgbClr val="404040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el</a:t>
            </a:r>
            <a:r>
              <a:rPr sz="2400" dirty="0">
                <a:solidFill>
                  <a:srgbClr val="404040"/>
                </a:solidFill>
                <a:latin typeface="Arial"/>
              </a:rPr>
              <a:t> modal Nuevo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proyecto</a:t>
            </a:r>
            <a:r>
              <a:rPr sz="2400" dirty="0">
                <a:solidFill>
                  <a:srgbClr val="404040"/>
                </a:solidFill>
                <a:latin typeface="Arial"/>
              </a:rPr>
              <a:t> o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Editar</a:t>
            </a:r>
            <a:r>
              <a:rPr sz="2400" dirty="0">
                <a:solidFill>
                  <a:srgbClr val="404040"/>
                </a:solidFill>
                <a:latin typeface="Arial"/>
              </a:rPr>
              <a:t>.</a:t>
            </a:r>
          </a:p>
          <a:p>
            <a:pPr algn="l"/>
            <a:r>
              <a:rPr sz="2400" dirty="0">
                <a:solidFill>
                  <a:srgbClr val="404040"/>
                </a:solidFill>
                <a:latin typeface="Arial"/>
              </a:rPr>
              <a:t>3. El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formulario</a:t>
            </a:r>
            <a:r>
              <a:rPr sz="2400" dirty="0">
                <a:solidFill>
                  <a:srgbClr val="404040"/>
                </a:solidFill>
                <a:latin typeface="Arial"/>
              </a:rPr>
              <a:t> se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convierte</a:t>
            </a:r>
            <a:r>
              <a:rPr sz="2400" dirty="0">
                <a:solidFill>
                  <a:srgbClr val="404040"/>
                </a:solidFill>
                <a:latin typeface="Arial"/>
              </a:rPr>
              <a:t> a JSON y se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envía</a:t>
            </a:r>
            <a:r>
              <a:rPr sz="2400" dirty="0">
                <a:solidFill>
                  <a:srgbClr val="404040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por</a:t>
            </a:r>
            <a:r>
              <a:rPr sz="2400" dirty="0">
                <a:solidFill>
                  <a:srgbClr val="404040"/>
                </a:solidFill>
                <a:latin typeface="Arial"/>
              </a:rPr>
              <a:t> POST o PUT.</a:t>
            </a:r>
          </a:p>
          <a:p>
            <a:pPr algn="l"/>
            <a:r>
              <a:rPr sz="2400" dirty="0">
                <a:solidFill>
                  <a:srgbClr val="404040"/>
                </a:solidFill>
                <a:latin typeface="Arial"/>
              </a:rPr>
              <a:t>4.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ProyectoServicio</a:t>
            </a:r>
            <a:r>
              <a:rPr sz="2400" dirty="0">
                <a:solidFill>
                  <a:srgbClr val="404040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valida</a:t>
            </a:r>
            <a:r>
              <a:rPr sz="2400" dirty="0">
                <a:solidFill>
                  <a:srgbClr val="404040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fechas</a:t>
            </a:r>
            <a:r>
              <a:rPr sz="2400" dirty="0">
                <a:solidFill>
                  <a:srgbClr val="404040"/>
                </a:solidFill>
                <a:latin typeface="Arial"/>
              </a:rPr>
              <a:t>, jefe,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departamento</a:t>
            </a:r>
            <a:r>
              <a:rPr sz="2400" dirty="0">
                <a:solidFill>
                  <a:srgbClr val="404040"/>
                </a:solidFill>
                <a:latin typeface="Arial"/>
              </a:rPr>
              <a:t>,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presupuesto</a:t>
            </a:r>
            <a:r>
              <a:rPr sz="2400" dirty="0">
                <a:solidFill>
                  <a:srgbClr val="404040"/>
                </a:solidFill>
                <a:latin typeface="Arial"/>
              </a:rPr>
              <a:t> y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estado</a:t>
            </a:r>
            <a:r>
              <a:rPr sz="2400" dirty="0">
                <a:solidFill>
                  <a:srgbClr val="404040"/>
                </a:solidFill>
                <a:latin typeface="Arial"/>
              </a:rPr>
              <a:t>.</a:t>
            </a:r>
          </a:p>
          <a:p>
            <a:pPr algn="l"/>
            <a:r>
              <a:rPr sz="2400" dirty="0">
                <a:solidFill>
                  <a:srgbClr val="404040"/>
                </a:solidFill>
                <a:latin typeface="Arial"/>
              </a:rPr>
              <a:t>5. La API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responde</a:t>
            </a:r>
            <a:r>
              <a:rPr sz="2400" dirty="0">
                <a:solidFill>
                  <a:srgbClr val="404040"/>
                </a:solidFill>
                <a:latin typeface="Arial"/>
              </a:rPr>
              <a:t> con JSON y la vista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actualiza</a:t>
            </a:r>
            <a:r>
              <a:rPr sz="2400" dirty="0">
                <a:solidFill>
                  <a:srgbClr val="404040"/>
                </a:solidFill>
                <a:latin typeface="Arial"/>
              </a:rPr>
              <a:t> la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tabla</a:t>
            </a:r>
            <a:r>
              <a:rPr sz="2400" dirty="0">
                <a:solidFill>
                  <a:srgbClr val="404040"/>
                </a:solidFill>
                <a:latin typeface="Arial"/>
              </a:rPr>
              <a:t> sin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recargar</a:t>
            </a:r>
            <a:r>
              <a:rPr sz="2400" dirty="0">
                <a:solidFill>
                  <a:srgbClr val="404040"/>
                </a:solidFill>
                <a:latin typeface="Arial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toda</a:t>
            </a:r>
            <a:r>
              <a:rPr sz="2400" dirty="0">
                <a:solidFill>
                  <a:srgbClr val="404040"/>
                </a:solidFill>
                <a:latin typeface="Arial"/>
              </a:rPr>
              <a:t> la </a:t>
            </a:r>
            <a:r>
              <a:rPr sz="2400" dirty="0" err="1">
                <a:solidFill>
                  <a:srgbClr val="404040"/>
                </a:solidFill>
                <a:latin typeface="Arial"/>
              </a:rPr>
              <a:t>aplicación</a:t>
            </a:r>
            <a:r>
              <a:rPr sz="2400" dirty="0">
                <a:solidFill>
                  <a:srgbClr val="404040"/>
                </a:solidFill>
                <a:latin typeface="Arial"/>
              </a:rPr>
              <a:t>.</a:t>
            </a:r>
          </a:p>
        </p:txBody>
      </p:sp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B444C774-521D-A84F-4A81-2317EB85E967}"/>
              </a:ext>
            </a:extLst>
          </p:cNvPr>
          <p:cNvSpPr/>
          <p:nvPr/>
        </p:nvSpPr>
        <p:spPr>
          <a:xfrm>
            <a:off x="9079825" y="0"/>
            <a:ext cx="31122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INTRODUCCIÓN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ARQUITECTURA MVC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INTEGRACIÓN API</a:t>
            </a: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DTOs Y SERVICIOS</a:t>
            </a:r>
            <a:endParaRPr lang="es-ES" sz="4000" dirty="0">
              <a:solidFill>
                <a:schemeClr val="lt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00"/>
                </a:solidFill>
                <a:latin typeface="Arial"/>
                <a:ea typeface="Calibri"/>
                <a:cs typeface="Calibri"/>
                <a:sym typeface="Calibri"/>
              </a:rPr>
              <a:t>FLUJO DE APIS</a:t>
            </a:r>
            <a:endParaRPr lang="es-ES" sz="4000" dirty="0">
              <a:solidFill>
                <a:srgbClr val="FFFF00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CONCLUSIONES</a:t>
            </a:r>
            <a:endParaRPr lang="es-ES" sz="4000" dirty="0"/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RECOMENDACIONES</a:t>
            </a:r>
            <a:endParaRPr lang="es-ES" sz="4000" dirty="0">
              <a:solidFill>
                <a:schemeClr val="dk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BIBLIOGRAFÍA </a:t>
            </a:r>
            <a:endParaRPr lang="es-ES" sz="4000" dirty="0"/>
          </a:p>
        </p:txBody>
      </p:sp>
    </p:spTree>
    <p:extLst>
      <p:ext uri="{BB962C8B-B14F-4D97-AF65-F5344CB8AC3E}">
        <p14:creationId xmlns:p14="http://schemas.microsoft.com/office/powerpoint/2010/main" val="1078831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C0DEFD86-C546-1950-D8C8-7BD9B208C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>
            <a:extLst>
              <a:ext uri="{FF2B5EF4-FFF2-40B4-BE49-F238E27FC236}">
                <a16:creationId xmlns:a16="http://schemas.microsoft.com/office/drawing/2014/main" id="{8F110056-A2D3-54AD-DA85-7D06A87E87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4" descr="Imagen que contiene electrónica, circuito&#10;&#10;Descripción generada automáticamente">
            <a:extLst>
              <a:ext uri="{FF2B5EF4-FFF2-40B4-BE49-F238E27FC236}">
                <a16:creationId xmlns:a16="http://schemas.microsoft.com/office/drawing/2014/main" id="{4B4BED60-85C3-ED99-87D6-3D415B659326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>
            <a:extLst>
              <a:ext uri="{FF2B5EF4-FFF2-40B4-BE49-F238E27FC236}">
                <a16:creationId xmlns:a16="http://schemas.microsoft.com/office/drawing/2014/main" id="{A09A375F-44CA-D20D-EA6A-260920A1AC13}"/>
              </a:ext>
            </a:extLst>
          </p:cNvPr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761B9829-C332-AB78-D18B-581D653C62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1800">
                <a:solidFill>
                  <a:srgbClr val="FFFFFF"/>
                </a:solidFill>
              </a:rPr>
              <a:t>FLUJO DE APIS</a:t>
            </a:r>
            <a:endParaRPr dirty="0"/>
          </a:p>
        </p:txBody>
      </p:sp>
      <p:grpSp>
        <p:nvGrpSpPr>
          <p:cNvPr id="118" name="Google Shape;118;p4">
            <a:extLst>
              <a:ext uri="{FF2B5EF4-FFF2-40B4-BE49-F238E27FC236}">
                <a16:creationId xmlns:a16="http://schemas.microsoft.com/office/drawing/2014/main" id="{4F6F788C-5845-1D51-7C5B-37D7C97830AB}"/>
              </a:ext>
            </a:extLst>
          </p:cNvPr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4">
              <a:extLst>
                <a:ext uri="{FF2B5EF4-FFF2-40B4-BE49-F238E27FC236}">
                  <a16:creationId xmlns:a16="http://schemas.microsoft.com/office/drawing/2014/main" id="{BB782D01-2536-990B-1ED8-CD5F3D20B5C7}"/>
                </a:ext>
              </a:extLst>
            </p:cNvPr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">
              <a:extLst>
                <a:ext uri="{FF2B5EF4-FFF2-40B4-BE49-F238E27FC236}">
                  <a16:creationId xmlns:a16="http://schemas.microsoft.com/office/drawing/2014/main" id="{84B17B46-3271-E537-E81C-C5F4E42A3DCB}"/>
                </a:ext>
              </a:extLst>
            </p:cNvPr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">
              <a:extLst>
                <a:ext uri="{FF2B5EF4-FFF2-40B4-BE49-F238E27FC236}">
                  <a16:creationId xmlns:a16="http://schemas.microsoft.com/office/drawing/2014/main" id="{DDAA3C5A-782D-69CC-99CF-30F64295505F}"/>
                </a:ext>
              </a:extLst>
            </p:cNvPr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20D09D3A-A4A3-5838-0DBC-FB9740962FD7}"/>
              </a:ext>
            </a:extLst>
          </p:cNvPr>
          <p:cNvSpPr/>
          <p:nvPr/>
        </p:nvSpPr>
        <p:spPr>
          <a:xfrm>
            <a:off x="9079825" y="0"/>
            <a:ext cx="31122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INTRODUCCIÓN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ARQUITECTURA MVC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INTEGRACIÓN API</a:t>
            </a: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DTOs Y SERVICIOS</a:t>
            </a:r>
            <a:endParaRPr lang="es-ES" sz="4000" dirty="0">
              <a:solidFill>
                <a:schemeClr val="lt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00"/>
                </a:solidFill>
                <a:latin typeface="Arial"/>
                <a:ea typeface="Calibri"/>
                <a:cs typeface="Calibri"/>
                <a:sym typeface="Calibri"/>
              </a:rPr>
              <a:t>FLUJO DE APIS</a:t>
            </a:r>
            <a:endParaRPr lang="es-ES" sz="4000" dirty="0">
              <a:solidFill>
                <a:srgbClr val="FFFF00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CONCLUSIONES</a:t>
            </a:r>
            <a:endParaRPr lang="es-ES" sz="4000" dirty="0"/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RECOMENDACIONES</a:t>
            </a:r>
            <a:endParaRPr lang="es-ES" sz="4000" dirty="0">
              <a:solidFill>
                <a:schemeClr val="dk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BIBLIOGRAFÍA </a:t>
            </a:r>
            <a:endParaRPr lang="es-ES" sz="4000" dirty="0"/>
          </a:p>
        </p:txBody>
      </p:sp>
      <p:sp>
        <p:nvSpPr>
          <p:cNvPr id="125" name="TextBox 124"/>
          <p:cNvSpPr txBox="1"/>
          <p:nvPr/>
        </p:nvSpPr>
        <p:spPr>
          <a:xfrm>
            <a:off x="640080" y="1600200"/>
            <a:ext cx="740664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>
                <a:solidFill>
                  <a:srgbClr val="000000"/>
                </a:solidFill>
                <a:latin typeface="Arial"/>
              </a:rPr>
              <a:t>Flujo de equipo del proyecto:
El botón Equipo abre un modal contextual. equipo-proyecto.js consulta GET /api/v1/proyectos/{codigo}/empleados/capacidad para mostrar integrantes, disponibilidad, horas estimadas y estado. La asignación usa POST, la edición usa PUT y el retiro usa DELETE. El servicio evita sobrecargas y conserva la trazabilidad del integrante dentro del proyecto.</a:t>
            </a:r>
          </a:p>
        </p:txBody>
      </p:sp>
    </p:spTree>
    <p:extLst>
      <p:ext uri="{BB962C8B-B14F-4D97-AF65-F5344CB8AC3E}">
        <p14:creationId xmlns:p14="http://schemas.microsoft.com/office/powerpoint/2010/main" val="3140581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BE76C70D-F8C4-1825-8634-BA1F10098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>
            <a:extLst>
              <a:ext uri="{FF2B5EF4-FFF2-40B4-BE49-F238E27FC236}">
                <a16:creationId xmlns:a16="http://schemas.microsoft.com/office/drawing/2014/main" id="{22D10B40-7795-2EA9-A571-99C5C65AE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5" name="Google Shape;115;p4" descr="Imagen que contiene electrónica, circuito&#10;&#10;Descripción generada automáticamente">
            <a:extLst>
              <a:ext uri="{FF2B5EF4-FFF2-40B4-BE49-F238E27FC236}">
                <a16:creationId xmlns:a16="http://schemas.microsoft.com/office/drawing/2014/main" id="{30987283-8CC3-534C-D169-CC2A5EBD6925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>
            <a:extLst>
              <a:ext uri="{FF2B5EF4-FFF2-40B4-BE49-F238E27FC236}">
                <a16:creationId xmlns:a16="http://schemas.microsoft.com/office/drawing/2014/main" id="{EA2DE901-E486-A253-7473-7DF93E86E426}"/>
              </a:ext>
            </a:extLst>
          </p:cNvPr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31382B72-8D04-E6E1-695E-02C501E867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1800" dirty="0">
                <a:solidFill>
                  <a:srgbClr val="FFFFFF"/>
                </a:solidFill>
              </a:rPr>
              <a:t>FLUJO DE APIS</a:t>
            </a:r>
            <a:endParaRPr dirty="0"/>
          </a:p>
        </p:txBody>
      </p:sp>
      <p:grpSp>
        <p:nvGrpSpPr>
          <p:cNvPr id="118" name="Google Shape;118;p4">
            <a:extLst>
              <a:ext uri="{FF2B5EF4-FFF2-40B4-BE49-F238E27FC236}">
                <a16:creationId xmlns:a16="http://schemas.microsoft.com/office/drawing/2014/main" id="{AB9B17F5-E83E-64E1-808A-8C823CB8631B}"/>
              </a:ext>
            </a:extLst>
          </p:cNvPr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4">
              <a:extLst>
                <a:ext uri="{FF2B5EF4-FFF2-40B4-BE49-F238E27FC236}">
                  <a16:creationId xmlns:a16="http://schemas.microsoft.com/office/drawing/2014/main" id="{16847EE1-14B1-B282-0C66-0C5AD02B9F84}"/>
                </a:ext>
              </a:extLst>
            </p:cNvPr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">
              <a:extLst>
                <a:ext uri="{FF2B5EF4-FFF2-40B4-BE49-F238E27FC236}">
                  <a16:creationId xmlns:a16="http://schemas.microsoft.com/office/drawing/2014/main" id="{01A88C13-BE2C-04E9-48E9-0122D5FA33BD}"/>
                </a:ext>
              </a:extLst>
            </p:cNvPr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">
              <a:extLst>
                <a:ext uri="{FF2B5EF4-FFF2-40B4-BE49-F238E27FC236}">
                  <a16:creationId xmlns:a16="http://schemas.microsoft.com/office/drawing/2014/main" id="{EAC58614-F8A9-9FD5-265C-6F62181CD631}"/>
                </a:ext>
              </a:extLst>
            </p:cNvPr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2769B32F-28E1-46E3-D164-1197363535B2}"/>
              </a:ext>
            </a:extLst>
          </p:cNvPr>
          <p:cNvSpPr/>
          <p:nvPr/>
        </p:nvSpPr>
        <p:spPr>
          <a:xfrm>
            <a:off x="9079825" y="0"/>
            <a:ext cx="31122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INTRODUCCIÓN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ARQUITECTURA MVC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INTEGRACIÓN API</a:t>
            </a: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DTOs Y SERVICIOS</a:t>
            </a:r>
            <a:endParaRPr lang="es-ES" sz="4000" dirty="0">
              <a:solidFill>
                <a:schemeClr val="lt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00"/>
                </a:solidFill>
                <a:latin typeface="Arial"/>
                <a:ea typeface="Calibri"/>
                <a:cs typeface="Calibri"/>
                <a:sym typeface="Calibri"/>
              </a:rPr>
              <a:t>FLUJO DE APIS</a:t>
            </a:r>
            <a:endParaRPr lang="es-ES" sz="4000" dirty="0">
              <a:solidFill>
                <a:srgbClr val="FFFF00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CONCLUSIONES</a:t>
            </a:r>
            <a:endParaRPr lang="es-ES" sz="4000" dirty="0"/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RECOMENDACIONES</a:t>
            </a:r>
            <a:endParaRPr lang="es-ES" sz="4000" dirty="0">
              <a:solidFill>
                <a:schemeClr val="dk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BIBLIOGRAFÍA </a:t>
            </a:r>
            <a:endParaRPr lang="es-ES" sz="4000" dirty="0"/>
          </a:p>
        </p:txBody>
      </p:sp>
      <p:sp>
        <p:nvSpPr>
          <p:cNvPr id="125" name="TextBox 124"/>
          <p:cNvSpPr txBox="1"/>
          <p:nvPr/>
        </p:nvSpPr>
        <p:spPr>
          <a:xfrm>
            <a:off x="635507" y="2103120"/>
            <a:ext cx="740664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dirty="0" err="1">
                <a:solidFill>
                  <a:srgbClr val="000000"/>
                </a:solidFill>
                <a:latin typeface="Arial"/>
              </a:rPr>
              <a:t>Flujo</a:t>
            </a:r>
            <a:r>
              <a:rPr sz="2000" dirty="0">
                <a:solidFill>
                  <a:srgbClr val="000000"/>
                </a:solidFill>
                <a:latin typeface="Arial"/>
              </a:rPr>
              <a:t> de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planificación</a:t>
            </a:r>
            <a:r>
              <a:rPr sz="2000" dirty="0">
                <a:solidFill>
                  <a:srgbClr val="000000"/>
                </a:solidFill>
                <a:latin typeface="Arial"/>
              </a:rPr>
              <a:t> y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seguimiento</a:t>
            </a:r>
            <a:r>
              <a:rPr sz="2000" dirty="0">
                <a:solidFill>
                  <a:srgbClr val="000000"/>
                </a:solidFill>
                <a:latin typeface="Arial"/>
              </a:rPr>
              <a:t>:
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Planificación</a:t>
            </a:r>
            <a:r>
              <a:rPr sz="200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usa</a:t>
            </a:r>
            <a:r>
              <a:rPr sz="2000" dirty="0">
                <a:solidFill>
                  <a:srgbClr val="000000"/>
                </a:solidFill>
                <a:latin typeface="Arial"/>
              </a:rPr>
              <a:t> GET /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api</a:t>
            </a:r>
            <a:r>
              <a:rPr sz="2000" dirty="0">
                <a:solidFill>
                  <a:srgbClr val="000000"/>
                </a:solidFill>
                <a:latin typeface="Arial"/>
              </a:rPr>
              <a:t>/v1/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proyectos</a:t>
            </a:r>
            <a:r>
              <a:rPr sz="2000" dirty="0">
                <a:solidFill>
                  <a:srgbClr val="000000"/>
                </a:solidFill>
                <a:latin typeface="Arial"/>
              </a:rPr>
              <a:t>/{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codigo</a:t>
            </a:r>
            <a:r>
              <a:rPr sz="2000" dirty="0">
                <a:solidFill>
                  <a:srgbClr val="000000"/>
                </a:solidFill>
                <a:latin typeface="Arial"/>
              </a:rPr>
              <a:t>}/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planificacion</a:t>
            </a:r>
            <a:r>
              <a:rPr sz="2000" dirty="0">
                <a:solidFill>
                  <a:srgbClr val="000000"/>
                </a:solidFill>
                <a:latin typeface="Arial"/>
              </a:rPr>
              <a:t> para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cargar</a:t>
            </a:r>
            <a:r>
              <a:rPr sz="200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resumen</a:t>
            </a:r>
            <a:r>
              <a:rPr sz="2000" dirty="0">
                <a:solidFill>
                  <a:srgbClr val="000000"/>
                </a:solidFill>
                <a:latin typeface="Arial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cronograma</a:t>
            </a:r>
            <a:r>
              <a:rPr sz="2000" dirty="0">
                <a:solidFill>
                  <a:srgbClr val="000000"/>
                </a:solidFill>
                <a:latin typeface="Arial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calendario</a:t>
            </a:r>
            <a:r>
              <a:rPr sz="2000" dirty="0">
                <a:solidFill>
                  <a:srgbClr val="000000"/>
                </a:solidFill>
                <a:latin typeface="Arial"/>
              </a:rPr>
              <a:t>, plan de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trabajo</a:t>
            </a:r>
            <a:r>
              <a:rPr sz="2000" dirty="0">
                <a:solidFill>
                  <a:srgbClr val="000000"/>
                </a:solidFill>
                <a:latin typeface="Arial"/>
              </a:rPr>
              <a:t> y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equipo</a:t>
            </a:r>
            <a:r>
              <a:rPr sz="2000" dirty="0">
                <a:solidFill>
                  <a:srgbClr val="000000"/>
                </a:solidFill>
                <a:latin typeface="Arial"/>
              </a:rPr>
              <a:t>. Las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fases</a:t>
            </a:r>
            <a:r>
              <a:rPr sz="2000" dirty="0">
                <a:solidFill>
                  <a:srgbClr val="000000"/>
                </a:solidFill>
                <a:latin typeface="Arial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actividades</a:t>
            </a:r>
            <a:r>
              <a:rPr sz="2000" dirty="0">
                <a:solidFill>
                  <a:srgbClr val="000000"/>
                </a:solidFill>
                <a:latin typeface="Arial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tareas</a:t>
            </a:r>
            <a:r>
              <a:rPr sz="2000" dirty="0">
                <a:solidFill>
                  <a:srgbClr val="000000"/>
                </a:solidFill>
                <a:latin typeface="Arial"/>
              </a:rPr>
              <a:t> y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entregables</a:t>
            </a:r>
            <a:r>
              <a:rPr sz="2000" dirty="0">
                <a:solidFill>
                  <a:srgbClr val="000000"/>
                </a:solidFill>
                <a:latin typeface="Arial"/>
              </a:rPr>
              <a:t> se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crean</a:t>
            </a:r>
            <a:r>
              <a:rPr sz="2000" dirty="0">
                <a:solidFill>
                  <a:srgbClr val="000000"/>
                </a:solidFill>
                <a:latin typeface="Arial"/>
              </a:rPr>
              <a:t> o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actualizan</a:t>
            </a:r>
            <a:r>
              <a:rPr sz="200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mediante</a:t>
            </a:r>
            <a:r>
              <a:rPr sz="2000" dirty="0">
                <a:solidFill>
                  <a:srgbClr val="000000"/>
                </a:solidFill>
                <a:latin typeface="Arial"/>
              </a:rPr>
              <a:t> endpoints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anidados</a:t>
            </a:r>
            <a:r>
              <a:rPr sz="2000" dirty="0">
                <a:solidFill>
                  <a:srgbClr val="000000"/>
                </a:solidFill>
                <a:latin typeface="Arial"/>
              </a:rPr>
              <a:t>. El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seguimiento</a:t>
            </a:r>
            <a:r>
              <a:rPr sz="200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usa</a:t>
            </a:r>
            <a:r>
              <a:rPr sz="2000" dirty="0">
                <a:solidFill>
                  <a:srgbClr val="000000"/>
                </a:solidFill>
                <a:latin typeface="Arial"/>
              </a:rPr>
              <a:t> PATCH para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cambiar</a:t>
            </a:r>
            <a:r>
              <a:rPr sz="200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estados</a:t>
            </a:r>
            <a:r>
              <a:rPr sz="2000" dirty="0">
                <a:solidFill>
                  <a:srgbClr val="000000"/>
                </a:solidFill>
                <a:latin typeface="Arial"/>
              </a:rPr>
              <a:t> y POST para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finalizar</a:t>
            </a:r>
            <a:r>
              <a:rPr sz="2000" dirty="0">
                <a:solidFill>
                  <a:srgbClr val="000000"/>
                </a:solidFill>
                <a:latin typeface="Arial"/>
              </a:rPr>
              <a:t> o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cancelar</a:t>
            </a:r>
            <a:r>
              <a:rPr sz="200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el</a:t>
            </a:r>
            <a:r>
              <a:rPr sz="200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proyecto</a:t>
            </a:r>
            <a:r>
              <a:rPr sz="2000" dirty="0">
                <a:solidFill>
                  <a:srgbClr val="000000"/>
                </a:solidFill>
                <a:latin typeface="Arial"/>
              </a:rPr>
              <a:t> con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validaciones</a:t>
            </a:r>
            <a:r>
              <a:rPr sz="2000" dirty="0">
                <a:solidFill>
                  <a:srgbClr val="000000"/>
                </a:solidFill>
                <a:latin typeface="Arial"/>
              </a:rPr>
              <a:t> de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cierre</a:t>
            </a:r>
            <a:r>
              <a:rPr sz="20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4298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161f07059f_0_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1800">
                <a:solidFill>
                  <a:srgbClr val="FFFFFF"/>
                </a:solidFill>
              </a:rPr>
              <a:t>CONCLUSIONES</a:t>
            </a:r>
            <a:endParaRPr/>
          </a:p>
        </p:txBody>
      </p:sp>
      <p:sp>
        <p:nvSpPr>
          <p:cNvPr id="354" name="Google Shape;354;g1161f07059f_0_0"/>
          <p:cNvSpPr txBox="1">
            <a:spLocks noGrp="1"/>
          </p:cNvSpPr>
          <p:nvPr>
            <p:ph type="body" idx="1"/>
          </p:nvPr>
        </p:nvSpPr>
        <p:spPr>
          <a:xfrm>
            <a:off x="581192" y="1628544"/>
            <a:ext cx="8188800" cy="45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>
              <a:lnSpc>
                <a:spcPct val="107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sz="2400">
                <a:solidFill>
                  <a:srgbClr val="404040"/>
                </a:solidFill>
                <a:latin typeface="Arial"/>
              </a:rPr>
              <a:t>La integración API separa correctamente la interfaz del procesamiento de negocio. Los controladores API exponen rutas claras, los servicios concentran validaciones y los repositorios aíslan la persistencia. Esto permite que el módulo de proyectos sea más mantenible, contextual y preparado para crecer sin duplicar lógica en la vista.</a:t>
            </a:r>
            <a:endParaRPr sz="32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55" name="Google Shape;355;g1161f07059f_0_0"/>
          <p:cNvSpPr/>
          <p:nvPr/>
        </p:nvSpPr>
        <p:spPr>
          <a:xfrm>
            <a:off x="9155325" y="0"/>
            <a:ext cx="30366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INTRODUCCIÓN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ARQUITECTURA MVC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INTEGRACIÓN API</a:t>
            </a: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DTOs Y SERVICIOS</a:t>
            </a:r>
            <a:endParaRPr lang="es-ES" sz="4000" dirty="0">
              <a:solidFill>
                <a:schemeClr val="lt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FLUJO DE APIS</a:t>
            </a:r>
            <a:endParaRPr lang="es-ES" sz="4000" dirty="0">
              <a:solidFill>
                <a:schemeClr val="bg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00"/>
                </a:solidFill>
                <a:latin typeface="Arial"/>
                <a:ea typeface="Calibri"/>
                <a:cs typeface="Calibri"/>
                <a:sym typeface="Calibri"/>
              </a:rPr>
              <a:t>CONCLUSIONES</a:t>
            </a:r>
            <a:endParaRPr lang="es-ES" sz="4000" dirty="0">
              <a:solidFill>
                <a:srgbClr val="FFFF00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RECOMENDACIONES</a:t>
            </a:r>
            <a:endParaRPr lang="es-ES" sz="4000" dirty="0">
              <a:solidFill>
                <a:schemeClr val="dk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BIBLIOGRAFÍA </a:t>
            </a:r>
            <a:endParaRPr lang="es-E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161f07059f_0_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1800">
                <a:solidFill>
                  <a:srgbClr val="FFFFFF"/>
                </a:solidFill>
              </a:rPr>
              <a:t>RECOMENDACIONES</a:t>
            </a:r>
            <a:endParaRPr/>
          </a:p>
        </p:txBody>
      </p:sp>
      <p:sp>
        <p:nvSpPr>
          <p:cNvPr id="361" name="Google Shape;361;g1161f07059f_0_6"/>
          <p:cNvSpPr txBox="1">
            <a:spLocks noGrp="1"/>
          </p:cNvSpPr>
          <p:nvPr>
            <p:ph type="body" idx="1"/>
          </p:nvPr>
        </p:nvSpPr>
        <p:spPr>
          <a:xfrm>
            <a:off x="492709" y="1797042"/>
            <a:ext cx="8188800" cy="45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>
              <a:lnSpc>
                <a:spcPct val="107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sz="2400">
                <a:solidFill>
                  <a:srgbClr val="404040"/>
                </a:solidFill>
                <a:latin typeface="Arial"/>
              </a:rPr>
              <a:t>Se recomienda mantener todos los cambios de proyectos mediante endpoints API y no desde lógica directa en Razor. También se debe documentar cada ruta nueva, conservar el uso de DTOs, validar permisos en backend, mantener el token antifalsificación y probar cada flujo con usuarios de diferentes perfiles antes de habilitarlo en producción.</a:t>
            </a:r>
            <a:endParaRPr sz="32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62" name="Google Shape;362;g1161f07059f_0_6"/>
          <p:cNvSpPr/>
          <p:nvPr/>
        </p:nvSpPr>
        <p:spPr>
          <a:xfrm>
            <a:off x="9155325" y="0"/>
            <a:ext cx="30366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INTRODUCCIÓN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ARQUITECTURA MVC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INTEGRACIÓN API</a:t>
            </a: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DTOs Y SERVICIOS</a:t>
            </a:r>
            <a:endParaRPr lang="es-ES" sz="4000" dirty="0">
              <a:solidFill>
                <a:schemeClr val="lt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FLUJO DE APIS</a:t>
            </a:r>
            <a:endParaRPr lang="es-ES" sz="4000" dirty="0">
              <a:solidFill>
                <a:schemeClr val="bg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CONCLUSIONES</a:t>
            </a:r>
            <a:endParaRPr lang="es-ES" sz="4000" dirty="0"/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00"/>
                </a:solidFill>
                <a:latin typeface="Arial"/>
                <a:ea typeface="Calibri"/>
                <a:cs typeface="Calibri"/>
                <a:sym typeface="Calibri"/>
              </a:rPr>
              <a:t>RECOMENDACIONES</a:t>
            </a:r>
            <a:endParaRPr lang="es-ES" sz="4000" dirty="0">
              <a:solidFill>
                <a:srgbClr val="FFFF00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BIBLIOGRAFÍA </a:t>
            </a:r>
            <a:endParaRPr lang="es-E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161f07059f_0_1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1800">
                <a:solidFill>
                  <a:srgbClr val="FFFFFF"/>
                </a:solidFill>
              </a:rPr>
              <a:t>BIBLIOGRAFÍA</a:t>
            </a:r>
            <a:endParaRPr/>
          </a:p>
        </p:txBody>
      </p:sp>
      <p:sp>
        <p:nvSpPr>
          <p:cNvPr id="368" name="Google Shape;368;g1161f07059f_0_12"/>
          <p:cNvSpPr txBox="1">
            <a:spLocks noGrp="1"/>
          </p:cNvSpPr>
          <p:nvPr>
            <p:ph type="body" idx="1"/>
          </p:nvPr>
        </p:nvSpPr>
        <p:spPr>
          <a:xfrm>
            <a:off x="336316" y="1470928"/>
            <a:ext cx="9063885" cy="48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>
              <a:lnSpc>
                <a:spcPct val="107000"/>
              </a:lnSpc>
              <a:spcBef>
                <a:spcPts val="0"/>
              </a:spcBef>
              <a:buClr>
                <a:schemeClr val="dk1"/>
              </a:buClr>
              <a:buSzPct val="61111"/>
              <a:buNone/>
            </a:pPr>
            <a:r>
              <a:rPr sz="1800" dirty="0">
                <a:solidFill>
                  <a:srgbClr val="404040"/>
                </a:solidFill>
                <a:latin typeface="Arial"/>
              </a:rPr>
              <a:t>[1] Microsoft. ASP.NET Core Web API Documentation. Microsoft Learn, 2026.</a:t>
            </a:r>
            <a:endParaRPr lang="es-ES" sz="3200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algn="l"/>
            <a:r>
              <a:rPr sz="1800" dirty="0">
                <a:solidFill>
                  <a:srgbClr val="404040"/>
                </a:solidFill>
                <a:latin typeface="Arial"/>
              </a:rPr>
              <a:t>[2] Microsoft. ASP.NET Core MVC Documentation. Microsoft Learn, 2026.</a:t>
            </a:r>
          </a:p>
          <a:p>
            <a:pPr algn="l"/>
            <a:r>
              <a:rPr sz="1800" dirty="0">
                <a:solidFill>
                  <a:srgbClr val="404040"/>
                </a:solidFill>
                <a:latin typeface="Arial"/>
              </a:rPr>
              <a:t>[3] MDN Web Docs. Fetch API y HTTP Methods. Mozilla Foundation, 2026.</a:t>
            </a:r>
          </a:p>
          <a:p>
            <a:pPr algn="l"/>
            <a:r>
              <a:rPr sz="1800" dirty="0">
                <a:solidFill>
                  <a:srgbClr val="404040"/>
                </a:solidFill>
                <a:latin typeface="Arial"/>
              </a:rPr>
              <a:t>[4] OWASP Foundation. Cross-Site Request Forgery Prevention Cheat Sheet, 2026.</a:t>
            </a:r>
          </a:p>
          <a:p>
            <a:pPr algn="l"/>
            <a:r>
              <a:rPr sz="1800" dirty="0">
                <a:solidFill>
                  <a:srgbClr val="404040"/>
                </a:solidFill>
                <a:latin typeface="Arial"/>
              </a:rPr>
              <a:t>[5] Microsoft. </a:t>
            </a:r>
            <a:r>
              <a:rPr sz="1800" dirty="0" err="1">
                <a:solidFill>
                  <a:srgbClr val="404040"/>
                </a:solidFill>
                <a:latin typeface="Arial"/>
              </a:rPr>
              <a:t>Microsoft.Data.SqlClient</a:t>
            </a:r>
            <a:r>
              <a:rPr sz="1800" dirty="0">
                <a:solidFill>
                  <a:srgbClr val="404040"/>
                </a:solidFill>
                <a:latin typeface="Arial"/>
              </a:rPr>
              <a:t> Documentation, 2026.</a:t>
            </a:r>
          </a:p>
        </p:txBody>
      </p:sp>
      <p:sp>
        <p:nvSpPr>
          <p:cNvPr id="369" name="Google Shape;369;g1161f07059f_0_12"/>
          <p:cNvSpPr/>
          <p:nvPr/>
        </p:nvSpPr>
        <p:spPr>
          <a:xfrm>
            <a:off x="9155325" y="0"/>
            <a:ext cx="30366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INTRODUCCIÓN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ARQUITECTURA MVC</a:t>
            </a:r>
          </a:p>
          <a:p>
            <a:pPr marL="457200" lvl="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INTEGRACIÓN API</a:t>
            </a: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DTOs Y SERVICIOS</a:t>
            </a:r>
            <a:endParaRPr lang="es-ES" sz="4000" dirty="0">
              <a:solidFill>
                <a:schemeClr val="lt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FLUJO DE APIS</a:t>
            </a:r>
            <a:endParaRPr lang="es-ES" sz="4000" dirty="0">
              <a:solidFill>
                <a:schemeClr val="bg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CONCLUSIONES</a:t>
            </a:r>
            <a:endParaRPr lang="es-ES" sz="4000" dirty="0"/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RECOMENDACIONES</a:t>
            </a:r>
            <a:endParaRPr lang="es-ES" sz="4000" dirty="0">
              <a:solidFill>
                <a:schemeClr val="dk1"/>
              </a:solidFill>
            </a:endParaRPr>
          </a:p>
          <a:p>
            <a:pPr marL="457200" lvl="0" indent="-361950">
              <a:buClr>
                <a:schemeClr val="lt1"/>
              </a:buClr>
              <a:buSzPts val="2100"/>
              <a:buChar char="◼"/>
            </a:pPr>
            <a:r>
              <a:rPr lang="es-ES" sz="1600" b="1" dirty="0">
                <a:solidFill>
                  <a:srgbClr val="FFFF00"/>
                </a:solidFill>
                <a:latin typeface="Arial"/>
                <a:ea typeface="Calibri"/>
                <a:cs typeface="Calibri"/>
                <a:sym typeface="Calibri"/>
              </a:rPr>
              <a:t>BIBLIOGRAFÍA </a:t>
            </a:r>
            <a:endParaRPr lang="es-ES" sz="4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1059</Words>
  <Application>Microsoft Office PowerPoint</Application>
  <PresentationFormat>Panorámica</PresentationFormat>
  <Paragraphs>148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Noto Sans Symbols</vt:lpstr>
      <vt:lpstr>Gill Sans</vt:lpstr>
      <vt:lpstr>Cambria</vt:lpstr>
      <vt:lpstr>Arial</vt:lpstr>
      <vt:lpstr>Calibri</vt:lpstr>
      <vt:lpstr>Dividendo</vt:lpstr>
      <vt:lpstr>Integración de APIs REST en ASP.NET Core MVC. Caso práctico: Gestión de Proyectos “Master Monster”</vt:lpstr>
      <vt:lpstr>Presentación de PowerPoint</vt:lpstr>
      <vt:lpstr>INTRODUCCIÓN</vt:lpstr>
      <vt:lpstr>ARQUITECTURA MVC</vt:lpstr>
      <vt:lpstr>ARQUITECTURA MVC</vt:lpstr>
      <vt:lpstr>INTEGRACIÓN API</vt:lpstr>
      <vt:lpstr>INTEGRACIÓN API</vt:lpstr>
      <vt:lpstr>DTOs Y SERVICIOS</vt:lpstr>
      <vt:lpstr>FLUJO DE APIS</vt:lpstr>
      <vt:lpstr>FLUJO DE APIS</vt:lpstr>
      <vt:lpstr>FLUJO DE APIS</vt:lpstr>
      <vt:lpstr>CONCLUSIONES</vt:lpstr>
      <vt:lpstr>RECOMENDACIONES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Nicolas Ortiz</dc:creator>
  <cp:lastModifiedBy>JUAN FELIPE GUTIERREZ VARGAS</cp:lastModifiedBy>
  <cp:revision>5</cp:revision>
  <dcterms:created xsi:type="dcterms:W3CDTF">2020-08-13T07:15:02Z</dcterms:created>
  <dcterms:modified xsi:type="dcterms:W3CDTF">2026-07-29T14:31:23Z</dcterms:modified>
</cp:coreProperties>
</file>